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Antonio García González" userId="b0c0742a-4474-4b39-82f3-beb28ca1872c" providerId="ADAL" clId="{394BAEFF-E299-420C-A680-3ABB07F7FB72}"/>
    <pc:docChg chg="custSel modSld">
      <pc:chgData name="Luis Antonio García González" userId="b0c0742a-4474-4b39-82f3-beb28ca1872c" providerId="ADAL" clId="{394BAEFF-E299-420C-A680-3ABB07F7FB72}" dt="2026-09-30T18:19:26.311" v="3" actId="729"/>
      <pc:docMkLst>
        <pc:docMk/>
      </pc:docMkLst>
      <pc:sldChg chg="delSp modSp mod">
        <pc:chgData name="Luis Antonio García González" userId="b0c0742a-4474-4b39-82f3-beb28ca1872c" providerId="ADAL" clId="{394BAEFF-E299-420C-A680-3ABB07F7FB72}" dt="2026-09-30T18:19:09.263" v="2" actId="478"/>
        <pc:sldMkLst>
          <pc:docMk/>
          <pc:sldMk cId="924297502" sldId="256"/>
        </pc:sldMkLst>
        <pc:spChg chg="del mod">
          <ac:chgData name="Luis Antonio García González" userId="b0c0742a-4474-4b39-82f3-beb28ca1872c" providerId="ADAL" clId="{394BAEFF-E299-420C-A680-3ABB07F7FB72}" dt="2026-09-30T18:19:06.585" v="1" actId="478"/>
          <ac:spMkLst>
            <pc:docMk/>
            <pc:sldMk cId="924297502" sldId="256"/>
            <ac:spMk id="2" creationId="{8F9D98C9-B05A-412B-BE30-B8A33E9F6A38}"/>
          </ac:spMkLst>
        </pc:spChg>
        <pc:spChg chg="del">
          <ac:chgData name="Luis Antonio García González" userId="b0c0742a-4474-4b39-82f3-beb28ca1872c" providerId="ADAL" clId="{394BAEFF-E299-420C-A680-3ABB07F7FB72}" dt="2026-09-30T18:19:09.263" v="2" actId="478"/>
          <ac:spMkLst>
            <pc:docMk/>
            <pc:sldMk cId="924297502" sldId="256"/>
            <ac:spMk id="3" creationId="{7E7DBA19-F60C-4233-9844-01D11E48A7D9}"/>
          </ac:spMkLst>
        </pc:spChg>
      </pc:sldChg>
      <pc:sldChg chg="mod modShow">
        <pc:chgData name="Luis Antonio García González" userId="b0c0742a-4474-4b39-82f3-beb28ca1872c" providerId="ADAL" clId="{394BAEFF-E299-420C-A680-3ABB07F7FB72}" dt="2026-09-30T18:19:26.311" v="3" actId="729"/>
        <pc:sldMkLst>
          <pc:docMk/>
          <pc:sldMk cId="1043575823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undefined</a:t>
            </a:r>
          </a:p>
          <a:p>
            <a:r>
              <a:t>Portada: ilustración conceptual generada con IA. No representa una estructura molecular específica.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Estos compuestos sirven como ejemplos didácticos de moléculas utilizadas en contextos de síntesis o funcionalización. No se recomienda una formulación experimental.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URL se muestra dividida para facilitar su lectura. Al usarla, unir los segmentos sin saltos de línea. Endpoint: una dirección de la API que permite realizar una operación. Fuente: https://pubchem.ncbi.nlm.nih.gov/docs/pug-rest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asumir que POST siempre crea un registro: muchas APIs científicas lo usan para consultas con entradas largas. Fuente: https://pubchem.ncbi.nlm.nih.gov/docs/pug-rest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Ejemplo simplificado e ilustrativo de un registro. CID identifica un compuesto en PubChem. El peso molecular puede llegar como texto y debe convertirse para cálculos. Fuente: https://pubchem.ncbi.nlm.nih.gov/docs/pug-rest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que Python empieza a numerar en cero. Una línea que comienza con # es un comentario. Ejecutar una línea a la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 una terminal usar python -m pip install requests pandas. %pip es una instrucción del cuaderno, no código para un archivo .py. Fuentes: https://requests.readthedocs.io/en/latest/user/quickstart/ y https://pandas.pydata.org/docs/getting_started/install.html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timeout=30 no establece un límite total exacto de 30 segundos para toda la descarga. Consultar Requests para sus detalles. Fuentes: https://requests.readthedocs.io/en/latest/user/quickstart/ y https://pubchem.ncbi.nlm.nih.gov/docs/pug-rest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la anidación usando el JSON completo impreso en el cuaderno. No memorizar rutas sin revisar el esquema. Fuentes: https://pubchem.ncbi.nlm.nih.gov/docs/pug-rest y https://requests.readthedocs.io/en/latest/user/quickstart/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Documentar el peso molecular en g/mol en el contexto químico de esta actividad. Fuente: https://pandas.pydata.org/docs/reference/api/pandas.DataFrame.to_csv.html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cadena f inserta los valores de las variables que aparecen entre llaves. CID es un identificador de PubChem. Comprobar identidades en el sitio y trabajar por CID cuando el nombre sea ambiguo. Fuente: https://pubchem.ncbi.nlm.nih.gov/docs/pug-rest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Manejo básico de errores. JSONDecodeError se captura antes de RequestException porque pertenece también a esa familia. No incluye reintentos automáticos. Fuente: https://requests.readthedocs.io/en/latest/user/quickstart/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límite puede depender también del volumen agregado y de la carga del servicio. Una clase entera puede compartir una misma salida a internet. Fuentes: https://pubchem.ncbi.nlm.nih.gov/docs/pug-rest y https://docs.materialsproject.org/downloading-data/using-the-api/getting-started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Las propiedades calculadas de Materials Project corresponden a modelos y métodos específicos. No extrapolarlas automáticamente a una nanopartícula real. Fuentes: https://pubchem.ncbi.nlm.nih.gov/docs/pug-rest y https://docs.materialsproject.org/downloading-data/using-the-api/getting-started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de 20 minutos. CID de ácido oleico: 445639. Verificar la identidad química y estado de protonación antes de usar datos en investigación. Evaluar comprensión del flujo y trazabilidad, sin exigir memorización de sintaxis.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Añadir verbalmente: revisar el estado evita interpretar un mensaje de error como datos. La fórmula por sí sola no informa tamaño, forma, agregación o superficie.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Documentación consultada el 30 de septiembre de 2026. La última dirección se divide visualmente y debe unirse sin saltos.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ubchem.ncbi.nlm.nih.gov/docs/pug-rest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cs.materialsproject.org/downloading-data/using-the-api/getting-started" TargetMode="External"/><Relationship Id="rId4" Type="http://schemas.openxmlformats.org/officeDocument/2006/relationships/hyperlink" Target="https://requests.readthedocs.io/en/latest/user/quickstar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B3459D8-448D-4B5D-BD12-E62BB1EE5907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7191375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APIs científicas</a:t>
            </a:r>
          </a:p>
          <a:p>
            <a:pPr>
              <a:buNone/>
              <a:def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 Python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E05E3C3-3F5F-4F68-A7B5-24FB3A3B2CAC}"/>
              </a:ext>
            </a:extLst>
          </p:cNvPr>
          <p:cNvSpPr>
            <a:spLocks noGrp="1"/>
          </p:cNvSpPr>
          <p:nvPr/>
        </p:nvSpPr>
        <p:spPr>
          <a:xfrm>
            <a:off x="11144250" y="638175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2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A7E9FC29-1877-429E-AEBA-EFEBB8FB099B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11049000" cy="0"/>
          </a:xfrm>
          <a:prstGeom prst="line">
            <a:avLst/>
          </a:prstGeom>
          <a:noFill/>
          <a:ln w="19050">
            <a:solidFill>
              <a:srgbClr val="B4945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D96C2B0C-B52B-4D91-B14A-0DD8CDAE168A}"/>
              </a:ext>
            </a:extLst>
          </p:cNvPr>
          <p:cNvSpPr>
            <a:spLocks noGrp="1"/>
          </p:cNvSpPr>
          <p:nvPr/>
        </p:nvSpPr>
        <p:spPr>
          <a:xfrm>
            <a:off x="571500" y="6219825"/>
            <a:ext cx="11049000" cy="0"/>
          </a:xfrm>
          <a:prstGeom prst="line">
            <a:avLst/>
          </a:prstGeom>
          <a:noFill/>
          <a:ln w="0"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7E52ACE6-84B2-44AD-BAE2-52784975DEB3}"/>
              </a:ext>
            </a:extLst>
          </p:cNvPr>
          <p:cNvSpPr>
            <a:spLocks noGrp="1"/>
          </p:cNvSpPr>
          <p:nvPr/>
        </p:nvSpPr>
        <p:spPr>
          <a:xfrm>
            <a:off x="8010525" y="1924050"/>
            <a:ext cx="0" cy="3619500"/>
          </a:xfrm>
          <a:prstGeom prst="line">
            <a:avLst/>
          </a:prstGeom>
          <a:noFill/>
          <a:ln w="0"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00B1A6E-6E1F-4B2D-B262-F662CDA25374}"/>
              </a:ext>
            </a:extLst>
          </p:cNvPr>
          <p:cNvSpPr>
            <a:spLocks noGrp="1"/>
          </p:cNvSpPr>
          <p:nvPr/>
        </p:nvSpPr>
        <p:spPr>
          <a:xfrm>
            <a:off x="647700" y="885825"/>
            <a:ext cx="5715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1">
                <a:solidFill>
                  <a:srgbClr val="DBC48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DBC48B"/>
                </a:solidFill>
                <a:latin typeface="DejaVu Sans"/>
                <a:ea typeface="DejaVu Sans"/>
                <a:cs typeface="DejaVu Sans"/>
              </a:rPr>
              <a:t>CIENCIA DE DATOS</a:t>
            </a:r>
          </a:p>
        </p:txBody>
      </p:sp>
    </p:spTree>
    <p:extLst>
      <p:ext uri="{BB962C8B-B14F-4D97-AF65-F5344CB8AC3E}">
        <p14:creationId xmlns:p14="http://schemas.microsoft.com/office/powerpoint/2010/main" val="924297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06162AF-3F24-46F6-A731-AFF302909BB9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109537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rPr>
              <a:t>Lo que aprenderemos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084E304-AD98-45EE-8A90-BD5B8296CA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25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endParaRPr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E19AF8C-C136-4798-82BD-E0425427DCDF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Conector recto 4">
            <a:extLst>
              <a:ext uri="{FF2B5EF4-FFF2-40B4-BE49-F238E27FC236}">
                <a16:creationId xmlns:a16="http://schemas.microsoft.com/office/drawing/2014/main" id="{DBC22057-AC5A-4C0F-898B-D4592954F4EC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11049000" cy="0"/>
          </a:xfrm>
          <a:prstGeom prst="line">
            <a:avLst/>
          </a:prstGeom>
          <a:noFill/>
          <a:ln w="19050">
            <a:solidFill>
              <a:srgbClr val="B4945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36E916C2-6B1B-4BB6-9DFB-3776161C1BF7}"/>
              </a:ext>
            </a:extLst>
          </p:cNvPr>
          <p:cNvSpPr>
            <a:spLocks noGrp="1"/>
          </p:cNvSpPr>
          <p:nvPr/>
        </p:nvSpPr>
        <p:spPr>
          <a:xfrm>
            <a:off x="571500" y="6219825"/>
            <a:ext cx="11049000" cy="0"/>
          </a:xfrm>
          <a:prstGeom prst="line">
            <a:avLst/>
          </a:prstGeom>
          <a:noFill/>
          <a:ln w="19050">
            <a:solidFill>
              <a:srgbClr val="DDE2E4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0598484-8FB5-49B8-A82A-D62C038997AE}"/>
              </a:ext>
            </a:extLst>
          </p:cNvPr>
          <p:cNvSpPr>
            <a:spLocks noGrp="1"/>
          </p:cNvSpPr>
          <p:nvPr/>
        </p:nvSpPr>
        <p:spPr>
          <a:xfrm>
            <a:off x="571500" y="2000250"/>
            <a:ext cx="762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B49450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B4945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7E0F215-70D3-4AF9-8379-6A2E11FF4B34}"/>
              </a:ext>
            </a:extLst>
          </p:cNvPr>
          <p:cNvSpPr>
            <a:spLocks noGrp="1"/>
          </p:cNvSpPr>
          <p:nvPr/>
        </p:nvSpPr>
        <p:spPr>
          <a:xfrm>
            <a:off x="1647825" y="2047875"/>
            <a:ext cx="9334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Qué es una API web</a:t>
            </a:r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1F42569A-2B6B-45E7-BD87-C83FC0C4D4C3}"/>
              </a:ext>
            </a:extLst>
          </p:cNvPr>
          <p:cNvSpPr>
            <a:spLocks noGrp="1"/>
          </p:cNvSpPr>
          <p:nvPr/>
        </p:nvSpPr>
        <p:spPr>
          <a:xfrm>
            <a:off x="1647825" y="2686050"/>
            <a:ext cx="9048750" cy="0"/>
          </a:xfrm>
          <a:prstGeom prst="line">
            <a:avLst/>
          </a:prstGeom>
          <a:noFill/>
          <a:ln w="19050">
            <a:solidFill>
              <a:srgbClr val="E3E5E5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9CA0887-32DD-4894-918B-317CCB2BB61B}"/>
              </a:ext>
            </a:extLst>
          </p:cNvPr>
          <p:cNvSpPr>
            <a:spLocks noGrp="1"/>
          </p:cNvSpPr>
          <p:nvPr/>
        </p:nvSpPr>
        <p:spPr>
          <a:xfrm>
            <a:off x="571500" y="2895600"/>
            <a:ext cx="762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B49450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B4945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67BDA6A-0FEE-49E7-857E-0A34D2722DF2}"/>
              </a:ext>
            </a:extLst>
          </p:cNvPr>
          <p:cNvSpPr>
            <a:spLocks noGrp="1"/>
          </p:cNvSpPr>
          <p:nvPr/>
        </p:nvSpPr>
        <p:spPr>
          <a:xfrm>
            <a:off x="1647825" y="2943225"/>
            <a:ext cx="9334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Peticiones y respuestas</a:t>
            </a:r>
          </a:p>
        </p:txBody>
      </p:sp>
      <p:sp>
        <p:nvSpPr>
          <p:cNvPr id="12" name="Conector recto 11">
            <a:extLst>
              <a:ext uri="{FF2B5EF4-FFF2-40B4-BE49-F238E27FC236}">
                <a16:creationId xmlns:a16="http://schemas.microsoft.com/office/drawing/2014/main" id="{540B3E33-F8E9-4A08-BF05-680B8078B6C2}"/>
              </a:ext>
            </a:extLst>
          </p:cNvPr>
          <p:cNvSpPr>
            <a:spLocks noGrp="1"/>
          </p:cNvSpPr>
          <p:nvPr/>
        </p:nvSpPr>
        <p:spPr>
          <a:xfrm>
            <a:off x="1647825" y="3581400"/>
            <a:ext cx="9048750" cy="0"/>
          </a:xfrm>
          <a:prstGeom prst="line">
            <a:avLst/>
          </a:prstGeom>
          <a:noFill/>
          <a:ln w="19050">
            <a:solidFill>
              <a:srgbClr val="E3E5E5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C8A24FB-B7D0-4FF1-8C38-C332B8FBC6AF}"/>
              </a:ext>
            </a:extLst>
          </p:cNvPr>
          <p:cNvSpPr>
            <a:spLocks noGrp="1"/>
          </p:cNvSpPr>
          <p:nvPr/>
        </p:nvSpPr>
        <p:spPr>
          <a:xfrm>
            <a:off x="571500" y="3790950"/>
            <a:ext cx="762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B49450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B4945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8AFC1C3-3155-45DF-85EF-C74F9576F9EC}"/>
              </a:ext>
            </a:extLst>
          </p:cNvPr>
          <p:cNvSpPr>
            <a:spLocks noGrp="1"/>
          </p:cNvSpPr>
          <p:nvPr/>
        </p:nvSpPr>
        <p:spPr>
          <a:xfrm>
            <a:off x="1647825" y="3838575"/>
            <a:ext cx="9334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Una consulta con Python</a:t>
            </a:r>
          </a:p>
        </p:txBody>
      </p:sp>
      <p:sp>
        <p:nvSpPr>
          <p:cNvPr id="15" name="Conector recto 14">
            <a:extLst>
              <a:ext uri="{FF2B5EF4-FFF2-40B4-BE49-F238E27FC236}">
                <a16:creationId xmlns:a16="http://schemas.microsoft.com/office/drawing/2014/main" id="{07CFCEBF-B2BE-4CB3-90C3-D5E1AC998030}"/>
              </a:ext>
            </a:extLst>
          </p:cNvPr>
          <p:cNvSpPr>
            <a:spLocks noGrp="1"/>
          </p:cNvSpPr>
          <p:nvPr/>
        </p:nvSpPr>
        <p:spPr>
          <a:xfrm>
            <a:off x="1647825" y="4476750"/>
            <a:ext cx="9048750" cy="0"/>
          </a:xfrm>
          <a:prstGeom prst="line">
            <a:avLst/>
          </a:prstGeom>
          <a:noFill/>
          <a:ln w="19050">
            <a:solidFill>
              <a:srgbClr val="E3E5E5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7FAA4C6-16D3-4617-B69A-92CCECF500B8}"/>
              </a:ext>
            </a:extLst>
          </p:cNvPr>
          <p:cNvSpPr>
            <a:spLocks noGrp="1"/>
          </p:cNvSpPr>
          <p:nvPr/>
        </p:nvSpPr>
        <p:spPr>
          <a:xfrm>
            <a:off x="571500" y="4686300"/>
            <a:ext cx="762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B49450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B4945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51ED9AD-2EDB-456E-85A3-AC3AA33F64DC}"/>
              </a:ext>
            </a:extLst>
          </p:cNvPr>
          <p:cNvSpPr>
            <a:spLocks noGrp="1"/>
          </p:cNvSpPr>
          <p:nvPr/>
        </p:nvSpPr>
        <p:spPr>
          <a:xfrm>
            <a:off x="1647825" y="4733925"/>
            <a:ext cx="9334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Una tabla con datos científicos</a:t>
            </a:r>
          </a:p>
        </p:txBody>
      </p:sp>
    </p:spTree>
    <p:extLst>
      <p:ext uri="{BB962C8B-B14F-4D97-AF65-F5344CB8AC3E}">
        <p14:creationId xmlns:p14="http://schemas.microsoft.com/office/powerpoint/2010/main" val="247856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FE0538BE-B0F9-47E8-9F22-36915BB685F9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109537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rPr>
              <a:t>Una pregunta de investigación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4528080-F58C-468B-BE83-8E8434BEBFB7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7124700" cy="3905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¿Qué propiedades tienen varios ligandos</a:t>
            </a: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que podríamos usar en una síntesis?</a:t>
            </a:r>
          </a:p>
          <a:p>
            <a:endParaRPr sz="2100" b="0">
              <a:solidFill>
                <a:srgbClr val="17334A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Podemos buscar cada molécula en una página.</a:t>
            </a: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Con una API, Python solicita los mismos campos</a:t>
            </a: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para varios compuestos de forma repetible.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3A56750-1180-4E4A-9965-9579CDA1A3EA}"/>
              </a:ext>
            </a:extLst>
          </p:cNvPr>
          <p:cNvSpPr>
            <a:spLocks noGrp="1"/>
          </p:cNvSpPr>
          <p:nvPr/>
        </p:nvSpPr>
        <p:spPr>
          <a:xfrm>
            <a:off x="8286750" y="1971675"/>
            <a:ext cx="3238500" cy="3905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Ejemplos</a:t>
            </a:r>
          </a:p>
          <a:p>
            <a:endParaRPr sz="1800" b="1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Ácido cítrico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Etilenglicol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Ácido oleico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0FD5812-B3B7-4500-A3A8-8021B7ADE851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8C68E3C8-32F2-4F3D-8F8C-EB58D229218A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11049000" cy="0"/>
          </a:xfrm>
          <a:prstGeom prst="line">
            <a:avLst/>
          </a:prstGeom>
          <a:noFill/>
          <a:ln w="19050">
            <a:solidFill>
              <a:srgbClr val="B4945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49E4868B-9489-4751-A28B-BCA2CC964A16}"/>
              </a:ext>
            </a:extLst>
          </p:cNvPr>
          <p:cNvSpPr>
            <a:spLocks noGrp="1"/>
          </p:cNvSpPr>
          <p:nvPr/>
        </p:nvSpPr>
        <p:spPr>
          <a:xfrm>
            <a:off x="571500" y="6219825"/>
            <a:ext cx="11049000" cy="0"/>
          </a:xfrm>
          <a:prstGeom prst="line">
            <a:avLst/>
          </a:prstGeom>
          <a:noFill/>
          <a:ln w="19050">
            <a:solidFill>
              <a:srgbClr val="DDE2E4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E9131DCD-578F-419D-9E99-7FC996E7D80B}"/>
              </a:ext>
            </a:extLst>
          </p:cNvPr>
          <p:cNvSpPr>
            <a:spLocks noGrp="1"/>
          </p:cNvSpPr>
          <p:nvPr/>
        </p:nvSpPr>
        <p:spPr>
          <a:xfrm>
            <a:off x="8010525" y="1924050"/>
            <a:ext cx="0" cy="3619500"/>
          </a:xfrm>
          <a:prstGeom prst="line">
            <a:avLst/>
          </a:prstGeom>
          <a:noFill/>
          <a:ln w="19050">
            <a:solidFill>
              <a:srgbClr val="D4C39D"/>
            </a:solidFill>
          </a:ln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43575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6D390810-B35E-43BA-8C47-6F863DEA7624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Qué es una API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60554A3-3E13-4F52-8F50-E6DA4FE767D7}"/>
              </a:ext>
            </a:extLst>
          </p:cNvPr>
          <p:cNvSpPr>
            <a:spLocks noGrp="1"/>
          </p:cNvSpPr>
          <p:nvPr/>
        </p:nvSpPr>
        <p:spPr>
          <a:xfrm>
            <a:off x="571500" y="2019300"/>
            <a:ext cx="7381875" cy="395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250" b="0">
                <a:solidFill>
                  <a:srgbClr val="E7EEF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E7EEF2"/>
                </a:solidFill>
                <a:latin typeface="DejaVu Sans"/>
                <a:ea typeface="DejaVu Sans"/>
                <a:cs typeface="DejaVu Sans"/>
              </a:rPr>
              <a:t>API significa interfaz de programación</a:t>
            </a:r>
          </a:p>
          <a:p>
            <a:pPr>
              <a:buNone/>
              <a:defRPr sz="2250" b="0">
                <a:solidFill>
                  <a:srgbClr val="E7EEF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E7EEF2"/>
                </a:solidFill>
                <a:latin typeface="DejaVu Sans"/>
                <a:ea typeface="DejaVu Sans"/>
                <a:cs typeface="DejaVu Sans"/>
              </a:rPr>
              <a:t>de aplicaciones.</a:t>
            </a:r>
          </a:p>
          <a:p>
            <a:endParaRPr sz="2250" b="0">
              <a:solidFill>
                <a:srgbClr val="E7EEF2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2250" b="0">
                <a:solidFill>
                  <a:srgbClr val="E7EEF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E7EEF2"/>
                </a:solidFill>
                <a:latin typeface="DejaVu Sans"/>
                <a:ea typeface="DejaVu Sans"/>
                <a:cs typeface="DejaVu Sans"/>
              </a:rPr>
              <a:t>Define cómo un programa solicita datos</a:t>
            </a:r>
          </a:p>
          <a:p>
            <a:pPr>
              <a:buNone/>
              <a:defRPr sz="2250" b="0">
                <a:solidFill>
                  <a:srgbClr val="E7EEF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E7EEF2"/>
                </a:solidFill>
                <a:latin typeface="DejaVu Sans"/>
                <a:ea typeface="DejaVu Sans"/>
                <a:cs typeface="DejaVu Sans"/>
              </a:rPr>
              <a:t>o funciones a otro sistema.</a:t>
            </a:r>
          </a:p>
          <a:p>
            <a:endParaRPr sz="2250" b="0">
              <a:solidFill>
                <a:srgbClr val="E7EEF2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2250" b="0">
                <a:solidFill>
                  <a:srgbClr val="E7EEF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E7EEF2"/>
                </a:solidFill>
                <a:latin typeface="DejaVu Sans"/>
                <a:ea typeface="DejaVu Sans"/>
                <a:cs typeface="DejaVu Sans"/>
              </a:rPr>
              <a:t>En una API web usamos direcciones</a:t>
            </a:r>
          </a:p>
          <a:p>
            <a:pPr>
              <a:buNone/>
              <a:defRPr sz="2250" b="0">
                <a:solidFill>
                  <a:srgbClr val="E7EEF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E7EEF2"/>
                </a:solidFill>
                <a:latin typeface="DejaVu Sans"/>
                <a:ea typeface="DejaVu Sans"/>
                <a:cs typeface="DejaVu Sans"/>
              </a:rPr>
              <a:t>de internet para hacer consultas.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A045281-BDD4-4030-A441-C2EFC1810548}"/>
              </a:ext>
            </a:extLst>
          </p:cNvPr>
          <p:cNvSpPr>
            <a:spLocks noGrp="1"/>
          </p:cNvSpPr>
          <p:nvPr/>
        </p:nvSpPr>
        <p:spPr>
          <a:xfrm>
            <a:off x="8505825" y="2286000"/>
            <a:ext cx="3000375" cy="3381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75" b="0">
                <a:solidFill>
                  <a:srgbClr val="DADFE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DADFE4"/>
                </a:solidFill>
                <a:latin typeface="DejaVu Sans"/>
                <a:ea typeface="DejaVu Sans"/>
                <a:cs typeface="DejaVu Sans"/>
              </a:rPr>
              <a:t>Una analogía</a:t>
            </a:r>
          </a:p>
          <a:p>
            <a:endParaRPr sz="1875" b="0">
              <a:solidFill>
                <a:srgbClr val="DADFE4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75" b="0">
                <a:solidFill>
                  <a:srgbClr val="DADFE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DADFE4"/>
                </a:solidFill>
                <a:latin typeface="DejaVu Sans"/>
                <a:ea typeface="DejaVu Sans"/>
                <a:cs typeface="DejaVu Sans"/>
              </a:rPr>
              <a:t>Un catálogo indica qué puedes pedir y cómo pedirlo.</a:t>
            </a:r>
          </a:p>
          <a:p>
            <a:endParaRPr sz="1875" b="0">
              <a:solidFill>
                <a:srgbClr val="DADFE4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75" b="0">
                <a:solidFill>
                  <a:srgbClr val="DADFE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DADFE4"/>
                </a:solidFill>
                <a:latin typeface="DejaVu Sans"/>
                <a:ea typeface="DejaVu Sans"/>
                <a:cs typeface="DejaVu Sans"/>
              </a:rPr>
              <a:t>La documentación de la API cumple ese papel.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922695C-2764-426F-9778-58E999F9C05A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275" b="0">
                <a:solidFill>
                  <a:srgbClr val="CCD7D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CCD7DF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4B612ACE-D8D7-408D-8BAB-5FE1AA30641A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11049000" cy="0"/>
          </a:xfrm>
          <a:prstGeom prst="line">
            <a:avLst/>
          </a:prstGeom>
          <a:noFill/>
          <a:ln w="19050">
            <a:solidFill>
              <a:srgbClr val="B4945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9F9E4133-62F9-478D-9EB7-0BE1B988E0B1}"/>
              </a:ext>
            </a:extLst>
          </p:cNvPr>
          <p:cNvSpPr>
            <a:spLocks noGrp="1"/>
          </p:cNvSpPr>
          <p:nvPr/>
        </p:nvSpPr>
        <p:spPr>
          <a:xfrm>
            <a:off x="571500" y="6219825"/>
            <a:ext cx="11049000" cy="0"/>
          </a:xfrm>
          <a:prstGeom prst="line">
            <a:avLst/>
          </a:prstGeom>
          <a:noFill/>
          <a:ln w="19050">
            <a:solidFill>
              <a:srgbClr val="DDE2E4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46F1BDEF-7D5B-4CAF-A892-4270BCA395D4}"/>
              </a:ext>
            </a:extLst>
          </p:cNvPr>
          <p:cNvSpPr>
            <a:spLocks noGrp="1"/>
          </p:cNvSpPr>
          <p:nvPr/>
        </p:nvSpPr>
        <p:spPr>
          <a:xfrm>
            <a:off x="8010525" y="1924050"/>
            <a:ext cx="0" cy="3619500"/>
          </a:xfrm>
          <a:prstGeom prst="line">
            <a:avLst/>
          </a:prstGeom>
          <a:noFill/>
          <a:ln w="19050">
            <a:solidFill>
              <a:srgbClr val="D4C39D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16347E6-9AEF-4EAE-A2A8-E305130EC212}"/>
              </a:ext>
            </a:extLst>
          </p:cNvPr>
          <p:cNvSpPr>
            <a:spLocks noGrp="1"/>
          </p:cNvSpPr>
          <p:nvPr/>
        </p:nvSpPr>
        <p:spPr>
          <a:xfrm>
            <a:off x="8448675" y="1762125"/>
            <a:ext cx="3048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300" b="1">
                <a:solidFill>
                  <a:srgbClr val="D7B97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D7B972"/>
                </a:solidFill>
                <a:latin typeface="DejaVu Sans"/>
                <a:ea typeface="DejaVu Sans"/>
                <a:cs typeface="DejaVu Sans"/>
              </a:rPr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1397928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Conector recto de flecha 21"/>
          <p:cNvCxnSpPr>
            <a:stCxn id="16" idx="1"/>
            <a:endCxn id="17" idx="3"/>
          </p:cNvCxnSpPr>
          <p:nvPr/>
        </p:nvCxnSpPr>
        <p:spPr>
          <a:xfrm flipH="1">
            <a:off x="4152900" y="4281488"/>
            <a:ext cx="4038600" cy="0"/>
          </a:xfrm>
          <a:prstGeom prst="straightConnector1">
            <a:avLst/>
          </a:prstGeom>
          <a:ln w="28575">
            <a:solidFill>
              <a:srgbClr val="478E9C"/>
            </a:solidFill>
            <a:tailEnd type="triangle" w="med" len="med"/>
          </a:ln>
        </p:spPr>
      </p:cxnSp>
      <p:cxnSp>
        <p:nvCxnSpPr>
          <p:cNvPr id="23" name="Conector recto de flecha 22"/>
          <p:cNvCxnSpPr>
            <a:stCxn id="13" idx="3"/>
            <a:endCxn id="14" idx="1"/>
          </p:cNvCxnSpPr>
          <p:nvPr/>
        </p:nvCxnSpPr>
        <p:spPr>
          <a:xfrm>
            <a:off x="4152900" y="2881313"/>
            <a:ext cx="4038600" cy="0"/>
          </a:xfrm>
          <a:prstGeom prst="straightConnector1">
            <a:avLst/>
          </a:prstGeom>
          <a:ln w="28575">
            <a:solidFill>
              <a:srgbClr val="B49450"/>
            </a:solidFill>
            <a:tailEnd type="triangle" w="med" len="med"/>
          </a:ln>
        </p:spPr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0C1686D4-4039-4EC8-A897-C8901FF1622D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109537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rPr>
              <a:t>Cliente y servidor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015BCE9-3C1A-4B03-BBA7-D8EFC9F774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endParaRPr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8F4A8FE-0BC2-43BB-BD37-9353C3B440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endParaRPr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D9FE89F-CC3A-4A1A-8976-F3B136091B32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6EE84570-F8CC-4C39-9731-365012FBBCB1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11049000" cy="0"/>
          </a:xfrm>
          <a:prstGeom prst="line">
            <a:avLst/>
          </a:prstGeom>
          <a:noFill/>
          <a:ln w="19050">
            <a:solidFill>
              <a:srgbClr val="B4945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750A3E33-75CA-4147-ADE3-4F6CE2D67890}"/>
              </a:ext>
            </a:extLst>
          </p:cNvPr>
          <p:cNvSpPr>
            <a:spLocks noGrp="1"/>
          </p:cNvSpPr>
          <p:nvPr/>
        </p:nvSpPr>
        <p:spPr>
          <a:xfrm>
            <a:off x="571500" y="6219825"/>
            <a:ext cx="11049000" cy="0"/>
          </a:xfrm>
          <a:prstGeom prst="line">
            <a:avLst/>
          </a:prstGeom>
          <a:noFill/>
          <a:ln w="19050">
            <a:solidFill>
              <a:srgbClr val="DDE2E4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1DDAC169-A67A-4C64-AF0A-DCC8F93D5680}"/>
              </a:ext>
            </a:extLst>
          </p:cNvPr>
          <p:cNvSpPr>
            <a:spLocks noGrp="1"/>
          </p:cNvSpPr>
          <p:nvPr/>
        </p:nvSpPr>
        <p:spPr>
          <a:xfrm>
            <a:off x="8010525" y="1924050"/>
            <a:ext cx="0" cy="3619500"/>
          </a:xfrm>
          <a:prstGeom prst="line">
            <a:avLst/>
          </a:prstGeom>
          <a:noFill/>
          <a:ln w="0"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016E8DC-EC65-4942-A489-BD9E8C2CFF0A}"/>
              </a:ext>
            </a:extLst>
          </p:cNvPr>
          <p:cNvSpPr>
            <a:spLocks noGrp="1"/>
          </p:cNvSpPr>
          <p:nvPr/>
        </p:nvSpPr>
        <p:spPr>
          <a:xfrm>
            <a:off x="885825" y="2143125"/>
            <a:ext cx="32385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09233D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9233D"/>
                </a:solidFill>
                <a:latin typeface="DejaVu Sans"/>
                <a:ea typeface="DejaVu Sans"/>
                <a:cs typeface="DejaVu Sans"/>
              </a:rPr>
              <a:t>CLIENTE</a:t>
            </a:r>
          </a:p>
          <a:p>
            <a:pPr>
              <a:defRPr sz="2550" b="1">
                <a:solidFill>
                  <a:srgbClr val="09233D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9233D"/>
                </a:solidFill>
                <a:latin typeface="DejaVu Sans"/>
                <a:ea typeface="DejaVu Sans"/>
                <a:cs typeface="DejaVu Sans"/>
              </a:rPr>
              <a:t>Python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4BC8A9A-0495-4F06-9C17-BB445C0B84D3}"/>
              </a:ext>
            </a:extLst>
          </p:cNvPr>
          <p:cNvSpPr>
            <a:spLocks noGrp="1"/>
          </p:cNvSpPr>
          <p:nvPr/>
        </p:nvSpPr>
        <p:spPr>
          <a:xfrm>
            <a:off x="8382000" y="2143125"/>
            <a:ext cx="3095625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09233D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9233D"/>
                </a:solidFill>
                <a:latin typeface="DejaVu Sans"/>
                <a:ea typeface="DejaVu Sans"/>
                <a:cs typeface="DejaVu Sans"/>
              </a:rPr>
              <a:t>SERVIDOR</a:t>
            </a:r>
          </a:p>
          <a:p>
            <a:pPr>
              <a:defRPr sz="2550" b="1">
                <a:solidFill>
                  <a:srgbClr val="09233D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9233D"/>
                </a:solidFill>
                <a:latin typeface="DejaVu Sans"/>
                <a:ea typeface="DejaVu Sans"/>
                <a:cs typeface="DejaVu Sans"/>
              </a:rPr>
              <a:t>PubChem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1A9125-8D66-4C72-9D84-F757FA183CF8}"/>
              </a:ext>
            </a:extLst>
          </p:cNvPr>
          <p:cNvSpPr>
            <a:spLocks noGrp="1"/>
          </p:cNvSpPr>
          <p:nvPr/>
        </p:nvSpPr>
        <p:spPr>
          <a:xfrm>
            <a:off x="4010025" y="2295525"/>
            <a:ext cx="42195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Petición: propiedades del etanol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C069A04-565F-407B-8AC7-039EDD0CA95C}"/>
              </a:ext>
            </a:extLst>
          </p:cNvPr>
          <p:cNvSpPr>
            <a:spLocks noGrp="1"/>
          </p:cNvSpPr>
          <p:nvPr/>
        </p:nvSpPr>
        <p:spPr>
          <a:xfrm>
            <a:off x="4295775" y="3733800"/>
            <a:ext cx="3810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Respuesta: estado y datos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7CDF813-7718-48BF-ABAB-3129C4444BED}"/>
              </a:ext>
            </a:extLst>
          </p:cNvPr>
          <p:cNvSpPr>
            <a:spLocks noGrp="1"/>
          </p:cNvSpPr>
          <p:nvPr/>
        </p:nvSpPr>
        <p:spPr>
          <a:xfrm>
            <a:off x="4143375" y="2876550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endParaRPr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9A0C758-F7D2-47E6-A3B4-0A88C9BDF65B}"/>
              </a:ext>
            </a:extLst>
          </p:cNvPr>
          <p:cNvSpPr>
            <a:spLocks noGrp="1"/>
          </p:cNvSpPr>
          <p:nvPr/>
        </p:nvSpPr>
        <p:spPr>
          <a:xfrm>
            <a:off x="8191500" y="2876550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endParaRPr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373D3F4-BD81-4996-A0BA-79CAE22224B6}"/>
              </a:ext>
            </a:extLst>
          </p:cNvPr>
          <p:cNvSpPr>
            <a:spLocks noGrp="1"/>
          </p:cNvSpPr>
          <p:nvPr/>
        </p:nvSpPr>
        <p:spPr>
          <a:xfrm>
            <a:off x="8191500" y="427672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endParaRPr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023C70C-0592-4B56-9ECB-18848D4846D9}"/>
              </a:ext>
            </a:extLst>
          </p:cNvPr>
          <p:cNvSpPr>
            <a:spLocks noGrp="1"/>
          </p:cNvSpPr>
          <p:nvPr/>
        </p:nvSpPr>
        <p:spPr>
          <a:xfrm>
            <a:off x="4143375" y="427672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endParaRPr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5BE6FE1-38DB-465B-9095-ACA0AF7C4C84}"/>
              </a:ext>
            </a:extLst>
          </p:cNvPr>
          <p:cNvSpPr>
            <a:spLocks noGrp="1"/>
          </p:cNvSpPr>
          <p:nvPr/>
        </p:nvSpPr>
        <p:spPr>
          <a:xfrm>
            <a:off x="895350" y="333375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Prepara la solicitud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7435F6F-7E1E-484D-86F4-4CFE99B65629}"/>
              </a:ext>
            </a:extLst>
          </p:cNvPr>
          <p:cNvSpPr>
            <a:spLocks noGrp="1"/>
          </p:cNvSpPr>
          <p:nvPr/>
        </p:nvSpPr>
        <p:spPr>
          <a:xfrm>
            <a:off x="8382000" y="3333750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Busca los datos</a:t>
            </a:r>
          </a:p>
          <a:p>
            <a:pPr>
              <a:defRPr sz="1875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y devuelve el resultado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55221A17-3F2E-4D67-AC24-E24792A22803}"/>
              </a:ext>
            </a:extLst>
          </p:cNvPr>
          <p:cNvSpPr>
            <a:spLocks noGrp="1"/>
          </p:cNvSpPr>
          <p:nvPr/>
        </p:nvSpPr>
        <p:spPr>
          <a:xfrm>
            <a:off x="885825" y="5086350"/>
            <a:ext cx="1038225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Tu programa revisa la respuesta antes de usar los datos.</a:t>
            </a:r>
          </a:p>
        </p:txBody>
      </p:sp>
    </p:spTree>
    <p:extLst>
      <p:ext uri="{BB962C8B-B14F-4D97-AF65-F5344CB8AC3E}">
        <p14:creationId xmlns:p14="http://schemas.microsoft.com/office/powerpoint/2010/main" val="1816314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48DE009D-2960-41D0-BFDE-19320BF7F65F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109537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rPr>
              <a:t>HTTP y HTTPS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50FABD5-99AE-430B-AA1A-375EA4F55165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7124700" cy="3905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HTTP es un protocolo: un conjunto de reglas</a:t>
            </a: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para intercambiar mensajes en la web.</a:t>
            </a:r>
          </a:p>
          <a:p>
            <a:endParaRPr sz="2100" b="0">
              <a:solidFill>
                <a:srgbClr val="17334A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HTTPS protege la comunicación durante</a:t>
            </a: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el transporte mediante cifrado.</a:t>
            </a:r>
          </a:p>
          <a:p>
            <a:endParaRPr sz="2100" b="0">
              <a:solidFill>
                <a:srgbClr val="17334A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Una API web usa estas reglas para recibir</a:t>
            </a: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peticiones y entregar respuestas.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E444549-24C8-423F-B9DC-FFF189AB9D75}"/>
              </a:ext>
            </a:extLst>
          </p:cNvPr>
          <p:cNvSpPr>
            <a:spLocks noGrp="1"/>
          </p:cNvSpPr>
          <p:nvPr/>
        </p:nvSpPr>
        <p:spPr>
          <a:xfrm>
            <a:off x="8286750" y="1971675"/>
            <a:ext cx="3238500" cy="3905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Protocolo</a:t>
            </a:r>
          </a:p>
          <a:p>
            <a:endParaRPr sz="1800" b="1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Como acordar el formato de una solicitud de laboratorio.</a:t>
            </a:r>
          </a:p>
          <a:p>
            <a:endParaRPr sz="1800" b="0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Python se encarga de muchos detalles.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655D3A5-4DB7-42F3-BAB1-D3EC4AFF467F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25E16D10-4486-4484-9988-B7B179D01700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11049000" cy="0"/>
          </a:xfrm>
          <a:prstGeom prst="line">
            <a:avLst/>
          </a:prstGeom>
          <a:noFill/>
          <a:ln w="19050">
            <a:solidFill>
              <a:srgbClr val="B4945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848365F7-B791-4CBA-BC0E-AAA494CF605A}"/>
              </a:ext>
            </a:extLst>
          </p:cNvPr>
          <p:cNvSpPr>
            <a:spLocks noGrp="1"/>
          </p:cNvSpPr>
          <p:nvPr/>
        </p:nvSpPr>
        <p:spPr>
          <a:xfrm>
            <a:off x="571500" y="6219825"/>
            <a:ext cx="11049000" cy="0"/>
          </a:xfrm>
          <a:prstGeom prst="line">
            <a:avLst/>
          </a:prstGeom>
          <a:noFill/>
          <a:ln w="19050">
            <a:solidFill>
              <a:srgbClr val="DDE2E4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02A9356D-D9A2-45C3-8519-30746116461F}"/>
              </a:ext>
            </a:extLst>
          </p:cNvPr>
          <p:cNvSpPr>
            <a:spLocks noGrp="1"/>
          </p:cNvSpPr>
          <p:nvPr/>
        </p:nvSpPr>
        <p:spPr>
          <a:xfrm>
            <a:off x="8010525" y="1924050"/>
            <a:ext cx="0" cy="3619500"/>
          </a:xfrm>
          <a:prstGeom prst="line">
            <a:avLst/>
          </a:prstGeom>
          <a:noFill/>
          <a:ln w="19050">
            <a:solidFill>
              <a:srgbClr val="D4C39D"/>
            </a:solidFill>
          </a:ln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6370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2A819266-44B2-49CC-A4ED-B7402F5661BD}"/>
              </a:ext>
            </a:extLst>
          </p:cNvPr>
          <p:cNvSpPr>
            <a:spLocks noGrp="1"/>
          </p:cNvSpPr>
          <p:nvPr/>
        </p:nvSpPr>
        <p:spPr>
          <a:xfrm>
            <a:off x="457200" y="1781175"/>
            <a:ext cx="7524750" cy="4191000"/>
          </a:xfrm>
          <a:prstGeom prst="rect">
            <a:avLst/>
          </a:prstGeom>
          <a:solidFill>
            <a:srgbClr val="09233D"/>
          </a:solidFill>
          <a:ln w="0"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59A3D9E-30E5-4475-B620-C63ADFFF2585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109537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rPr>
              <a:t>La dirección de una consulta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3A759A8-88C8-4714-812F-0B1CD772F9D8}"/>
              </a:ext>
            </a:extLst>
          </p:cNvPr>
          <p:cNvSpPr>
            <a:spLocks noGrp="1"/>
          </p:cNvSpPr>
          <p:nvPr/>
        </p:nvSpPr>
        <p:spPr>
          <a:xfrm>
            <a:off x="704850" y="2524125"/>
            <a:ext cx="6953250" cy="2076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0">
                <a:solidFill>
                  <a:srgbClr val="E6D3A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6D3A1"/>
                </a:solidFill>
                <a:latin typeface="DejaVu Sans Mono"/>
                <a:ea typeface="DejaVu Sans Mono"/>
                <a:cs typeface="DejaVu Sans Mono"/>
              </a:rPr>
              <a:t>https://pubchem.ncbi.nlm.nih.gov</a:t>
            </a:r>
          </a:p>
          <a:p>
            <a:pPr>
              <a:buNone/>
              <a:defRPr sz="1800" b="0">
                <a:solidFill>
                  <a:srgbClr val="E6D3A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6D3A1"/>
                </a:solidFill>
                <a:latin typeface="DejaVu Sans Mono"/>
                <a:ea typeface="DejaVu Sans Mono"/>
                <a:cs typeface="DejaVu Sans Mono"/>
              </a:rPr>
              <a:t>/rest/pug/compound/name/ethanol</a:t>
            </a:r>
          </a:p>
          <a:p>
            <a:pPr>
              <a:buNone/>
              <a:defRPr sz="1800" b="0">
                <a:solidFill>
                  <a:srgbClr val="E6D3A1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6D3A1"/>
                </a:solidFill>
                <a:latin typeface="DejaVu Sans Mono"/>
                <a:ea typeface="DejaVu Sans Mono"/>
                <a:cs typeface="DejaVu Sans Mono"/>
              </a:rPr>
              <a:t>/property/MolecularFormula,MolecularWeight/JSON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D0E997C-3F41-4F11-B549-30591B90A005}"/>
              </a:ext>
            </a:extLst>
          </p:cNvPr>
          <p:cNvSpPr>
            <a:spLocks noGrp="1"/>
          </p:cNvSpPr>
          <p:nvPr/>
        </p:nvSpPr>
        <p:spPr>
          <a:xfrm>
            <a:off x="8286750" y="1971675"/>
            <a:ext cx="3238500" cy="3905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https://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Protocolo</a:t>
            </a:r>
          </a:p>
          <a:p>
            <a:endParaRPr sz="1800" b="0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pubchem.ncbi.nlm.nih.gov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Servidor</a:t>
            </a:r>
          </a:p>
          <a:p>
            <a:endParaRPr sz="1800" b="0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/rest/pug/...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Ruta de la consulta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1B6A199-421E-4AAC-8A1C-542D2E7B03AF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9C2C0289-B5B0-4368-890C-3C7ADFFA8907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11049000" cy="0"/>
          </a:xfrm>
          <a:prstGeom prst="line">
            <a:avLst/>
          </a:prstGeom>
          <a:noFill/>
          <a:ln w="19050">
            <a:solidFill>
              <a:srgbClr val="B4945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95E84963-FFED-4134-B976-3F18A4F3E6B5}"/>
              </a:ext>
            </a:extLst>
          </p:cNvPr>
          <p:cNvSpPr>
            <a:spLocks noGrp="1"/>
          </p:cNvSpPr>
          <p:nvPr/>
        </p:nvSpPr>
        <p:spPr>
          <a:xfrm>
            <a:off x="571500" y="6219825"/>
            <a:ext cx="11049000" cy="0"/>
          </a:xfrm>
          <a:prstGeom prst="line">
            <a:avLst/>
          </a:prstGeom>
          <a:noFill/>
          <a:ln w="19050">
            <a:solidFill>
              <a:srgbClr val="DDE2E4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A84F50B3-A1B1-4C55-8549-93E3C56E7733}"/>
              </a:ext>
            </a:extLst>
          </p:cNvPr>
          <p:cNvSpPr>
            <a:spLocks noGrp="1"/>
          </p:cNvSpPr>
          <p:nvPr/>
        </p:nvSpPr>
        <p:spPr>
          <a:xfrm>
            <a:off x="8010525" y="1924050"/>
            <a:ext cx="0" cy="3619500"/>
          </a:xfrm>
          <a:prstGeom prst="line">
            <a:avLst/>
          </a:prstGeom>
          <a:noFill/>
          <a:ln w="19050">
            <a:solidFill>
              <a:srgbClr val="D4C39D"/>
            </a:solidFill>
          </a:ln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00220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A974389E-7A7E-4E2A-89D5-8A846B9ED3E3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109537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rPr>
              <a:t>Qué contiene una petición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8296CAB-809D-4F73-B348-272001F4DAAF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7124700" cy="3905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Método: qué operación queremos realizar.</a:t>
            </a: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URL: a qué recurso nos dirigimos.</a:t>
            </a: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Parámetros: opciones o filtros de la consulta.</a:t>
            </a: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Cabeceras: información adicional del mensaje.</a:t>
            </a: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Cuerpo: datos que enviamos, cuando corresponde.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5AB6459-C712-43CC-AD69-A231E9716DFA}"/>
              </a:ext>
            </a:extLst>
          </p:cNvPr>
          <p:cNvSpPr>
            <a:spLocks noGrp="1"/>
          </p:cNvSpPr>
          <p:nvPr/>
        </p:nvSpPr>
        <p:spPr>
          <a:xfrm>
            <a:off x="8286750" y="1971675"/>
            <a:ext cx="3238500" cy="3905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Ejemplo de lectura</a:t>
            </a:r>
          </a:p>
          <a:p>
            <a:endParaRPr sz="1800" b="1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Método GET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Recurso: etanol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Campos: fórmula y peso molecular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Formato: JSON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D8CA1D0-B5D9-4CB3-BEDB-6A4105F8E565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A88BF07C-5E14-4CAF-B1F2-F4E1D778F19A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11049000" cy="0"/>
          </a:xfrm>
          <a:prstGeom prst="line">
            <a:avLst/>
          </a:prstGeom>
          <a:noFill/>
          <a:ln w="19050">
            <a:solidFill>
              <a:srgbClr val="B4945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E0E03874-D8C0-431C-A0AB-A50A48961963}"/>
              </a:ext>
            </a:extLst>
          </p:cNvPr>
          <p:cNvSpPr>
            <a:spLocks noGrp="1"/>
          </p:cNvSpPr>
          <p:nvPr/>
        </p:nvSpPr>
        <p:spPr>
          <a:xfrm>
            <a:off x="571500" y="6219825"/>
            <a:ext cx="11049000" cy="0"/>
          </a:xfrm>
          <a:prstGeom prst="line">
            <a:avLst/>
          </a:prstGeom>
          <a:noFill/>
          <a:ln w="19050">
            <a:solidFill>
              <a:srgbClr val="DDE2E4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314FC1C8-4EAC-4FF8-A669-A1417369D28E}"/>
              </a:ext>
            </a:extLst>
          </p:cNvPr>
          <p:cNvSpPr>
            <a:spLocks noGrp="1"/>
          </p:cNvSpPr>
          <p:nvPr/>
        </p:nvSpPr>
        <p:spPr>
          <a:xfrm>
            <a:off x="8010525" y="1924050"/>
            <a:ext cx="0" cy="3619500"/>
          </a:xfrm>
          <a:prstGeom prst="line">
            <a:avLst/>
          </a:prstGeom>
          <a:noFill/>
          <a:ln w="19050">
            <a:solidFill>
              <a:srgbClr val="D4C39D"/>
            </a:solidFill>
          </a:ln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2669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67833E15-9D08-4094-8439-430218E50240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109537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rPr>
              <a:t>GET y POST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B802A06-9E90-4999-B723-C547D6F7688D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7124700" cy="3905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GET solicita información.</a:t>
            </a: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Ejemplo: obtener propiedades de un compuesto.</a:t>
            </a:r>
          </a:p>
          <a:p>
            <a:endParaRPr sz="2100" b="0">
              <a:solidFill>
                <a:srgbClr val="17334A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POST envía datos para que el servidor los procese.</a:t>
            </a: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Ejemplo: enviar una estructura para una búsqueda.</a:t>
            </a:r>
          </a:p>
          <a:p>
            <a:endParaRPr sz="2100" b="0">
              <a:solidFill>
                <a:srgbClr val="17334A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La documentación indica qué método admite</a:t>
            </a: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cada operación.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8A04472-F60A-48F0-8E40-2AAD3177F7EE}"/>
              </a:ext>
            </a:extLst>
          </p:cNvPr>
          <p:cNvSpPr>
            <a:spLocks noGrp="1"/>
          </p:cNvSpPr>
          <p:nvPr/>
        </p:nvSpPr>
        <p:spPr>
          <a:xfrm>
            <a:off x="8286750" y="1971675"/>
            <a:ext cx="3238500" cy="3905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Para esta práctica</a:t>
            </a:r>
          </a:p>
          <a:p>
            <a:endParaRPr sz="1800" b="1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Usaremos GET.</a:t>
            </a:r>
          </a:p>
          <a:p>
            <a:endParaRPr sz="1800" b="0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Otras operaciones pueden requerir POST, PUT, PATCH o DELETE.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7F15860-A92C-4637-98A9-D9F7C7984A10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6D71307A-48D4-4CDA-B137-4CFD704BEBB9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11049000" cy="0"/>
          </a:xfrm>
          <a:prstGeom prst="line">
            <a:avLst/>
          </a:prstGeom>
          <a:noFill/>
          <a:ln w="19050">
            <a:solidFill>
              <a:srgbClr val="B4945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EE19ADD7-D164-46F5-A960-BD4570D41377}"/>
              </a:ext>
            </a:extLst>
          </p:cNvPr>
          <p:cNvSpPr>
            <a:spLocks noGrp="1"/>
          </p:cNvSpPr>
          <p:nvPr/>
        </p:nvSpPr>
        <p:spPr>
          <a:xfrm>
            <a:off x="571500" y="6219825"/>
            <a:ext cx="11049000" cy="0"/>
          </a:xfrm>
          <a:prstGeom prst="line">
            <a:avLst/>
          </a:prstGeom>
          <a:noFill/>
          <a:ln w="19050">
            <a:solidFill>
              <a:srgbClr val="DDE2E4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F42315D7-AC8E-4B15-9297-9AE1CB8380C3}"/>
              </a:ext>
            </a:extLst>
          </p:cNvPr>
          <p:cNvSpPr>
            <a:spLocks noGrp="1"/>
          </p:cNvSpPr>
          <p:nvPr/>
        </p:nvSpPr>
        <p:spPr>
          <a:xfrm>
            <a:off x="8010525" y="1924050"/>
            <a:ext cx="0" cy="3619500"/>
          </a:xfrm>
          <a:prstGeom prst="line">
            <a:avLst/>
          </a:prstGeom>
          <a:noFill/>
          <a:ln w="19050">
            <a:solidFill>
              <a:srgbClr val="D4C39D"/>
            </a:solidFill>
          </a:ln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7626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85E754E4-12FA-4F01-A82C-99982108C033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109537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rPr>
              <a:t>Qué contiene una respuesta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B58715D-5659-4A04-AD49-07E8C50499B9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7124700" cy="3905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Código de estado: informa cómo terminó</a:t>
            </a: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la solicitud.</a:t>
            </a:r>
          </a:p>
          <a:p>
            <a:endParaRPr sz="2100" b="0">
              <a:solidFill>
                <a:srgbClr val="17334A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Cabeceras: describen la respuesta, por ejemplo</a:t>
            </a: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el tipo de contenido.</a:t>
            </a:r>
          </a:p>
          <a:p>
            <a:endParaRPr sz="2100" b="0">
              <a:solidFill>
                <a:srgbClr val="17334A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Cuerpo: contiene los datos o un mensaje</a:t>
            </a: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que explica el problema.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879A077-D804-4AF3-94DF-0264D3B1DFCD}"/>
              </a:ext>
            </a:extLst>
          </p:cNvPr>
          <p:cNvSpPr>
            <a:spLocks noGrp="1"/>
          </p:cNvSpPr>
          <p:nvPr/>
        </p:nvSpPr>
        <p:spPr>
          <a:xfrm>
            <a:off x="8286750" y="1971675"/>
            <a:ext cx="3238500" cy="3905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Dos comprobaciones</a:t>
            </a:r>
          </a:p>
          <a:p>
            <a:endParaRPr sz="1800" b="1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¿La petición terminó bien?</a:t>
            </a:r>
          </a:p>
          <a:p>
            <a:endParaRPr sz="1800" b="0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¿El contenido tiene los campos que necesito?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957AE97-1434-4930-97B5-0DB00772F424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E614D8CE-A2DA-49A1-A2F7-678DA31BBEB5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11049000" cy="0"/>
          </a:xfrm>
          <a:prstGeom prst="line">
            <a:avLst/>
          </a:prstGeom>
          <a:noFill/>
          <a:ln w="19050">
            <a:solidFill>
              <a:srgbClr val="B4945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995C6F01-92FD-4682-A0FF-124332786620}"/>
              </a:ext>
            </a:extLst>
          </p:cNvPr>
          <p:cNvSpPr>
            <a:spLocks noGrp="1"/>
          </p:cNvSpPr>
          <p:nvPr/>
        </p:nvSpPr>
        <p:spPr>
          <a:xfrm>
            <a:off x="571500" y="6219825"/>
            <a:ext cx="11049000" cy="0"/>
          </a:xfrm>
          <a:prstGeom prst="line">
            <a:avLst/>
          </a:prstGeom>
          <a:noFill/>
          <a:ln w="19050">
            <a:solidFill>
              <a:srgbClr val="DDE2E4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E2CC1435-0066-4DCD-BFBA-A9F8E6F9A48A}"/>
              </a:ext>
            </a:extLst>
          </p:cNvPr>
          <p:cNvSpPr>
            <a:spLocks noGrp="1"/>
          </p:cNvSpPr>
          <p:nvPr/>
        </p:nvSpPr>
        <p:spPr>
          <a:xfrm>
            <a:off x="8010525" y="1924050"/>
            <a:ext cx="0" cy="3619500"/>
          </a:xfrm>
          <a:prstGeom prst="line">
            <a:avLst/>
          </a:prstGeom>
          <a:noFill/>
          <a:ln w="19050">
            <a:solidFill>
              <a:srgbClr val="D4C39D"/>
            </a:solidFill>
          </a:ln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48837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EF353AE4-7F76-47B3-BD1C-C65FB8CDB897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109537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rPr>
              <a:t>Códigos de estado frecuentes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688D512-3F23-4234-9971-4F03B70A6B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endParaRPr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39AE42-7DD8-483C-84EB-B0FCEB191B34}"/>
              </a:ext>
            </a:extLst>
          </p:cNvPr>
          <p:cNvSpPr>
            <a:spLocks noGrp="1"/>
          </p:cNvSpPr>
          <p:nvPr/>
        </p:nvSpPr>
        <p:spPr>
          <a:xfrm>
            <a:off x="8286750" y="1971675"/>
            <a:ext cx="3238500" cy="3905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Un error es información</a:t>
            </a:r>
          </a:p>
          <a:p>
            <a:endParaRPr sz="1800" b="1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El código ayuda a decidir si corregir la consulta, revisar el acceso o esperar.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5E89535-835C-4491-9D47-678E0C116BEA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BB3C1BD2-0C67-498A-AFDC-4E9C39F6352C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11049000" cy="0"/>
          </a:xfrm>
          <a:prstGeom prst="line">
            <a:avLst/>
          </a:prstGeom>
          <a:noFill/>
          <a:ln w="19050">
            <a:solidFill>
              <a:srgbClr val="B4945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2DE39AB5-6DB5-4DBA-8E20-53450EA5ABAC}"/>
              </a:ext>
            </a:extLst>
          </p:cNvPr>
          <p:cNvSpPr>
            <a:spLocks noGrp="1"/>
          </p:cNvSpPr>
          <p:nvPr/>
        </p:nvSpPr>
        <p:spPr>
          <a:xfrm>
            <a:off x="571500" y="6219825"/>
            <a:ext cx="11049000" cy="0"/>
          </a:xfrm>
          <a:prstGeom prst="line">
            <a:avLst/>
          </a:prstGeom>
          <a:noFill/>
          <a:ln w="19050">
            <a:solidFill>
              <a:srgbClr val="DDE2E4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E351ED7C-3020-4C15-ABAD-DC5BC85664FA}"/>
              </a:ext>
            </a:extLst>
          </p:cNvPr>
          <p:cNvSpPr>
            <a:spLocks noGrp="1"/>
          </p:cNvSpPr>
          <p:nvPr/>
        </p:nvSpPr>
        <p:spPr>
          <a:xfrm>
            <a:off x="8010525" y="1924050"/>
            <a:ext cx="0" cy="3619500"/>
          </a:xfrm>
          <a:prstGeom prst="line">
            <a:avLst/>
          </a:prstGeom>
          <a:noFill/>
          <a:ln w="19050">
            <a:solidFill>
              <a:srgbClr val="D4C39D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FE49008-2A4B-4B0D-8A6B-F51F9B6B9390}"/>
              </a:ext>
            </a:extLst>
          </p:cNvPr>
          <p:cNvSpPr>
            <a:spLocks noGrp="1"/>
          </p:cNvSpPr>
          <p:nvPr/>
        </p:nvSpPr>
        <p:spPr>
          <a:xfrm>
            <a:off x="571500" y="1981200"/>
            <a:ext cx="10287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22786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>
                <a:solidFill>
                  <a:srgbClr val="227865"/>
                </a:solidFill>
                <a:latin typeface="DejaVu Sans Mono"/>
                <a:ea typeface="DejaVu Sans Mono"/>
                <a:cs typeface="DejaVu Sans Mono"/>
              </a:rPr>
              <a:t>200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EE13AB8-1414-41DC-97E5-740337BA0E1C}"/>
              </a:ext>
            </a:extLst>
          </p:cNvPr>
          <p:cNvSpPr>
            <a:spLocks noGrp="1"/>
          </p:cNvSpPr>
          <p:nvPr/>
        </p:nvSpPr>
        <p:spPr>
          <a:xfrm>
            <a:off x="1819275" y="1990725"/>
            <a:ext cx="5810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Solicitud correcta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6D5E5DF-DFD8-4935-8406-B3EFC1EA5EE7}"/>
              </a:ext>
            </a:extLst>
          </p:cNvPr>
          <p:cNvSpPr>
            <a:spLocks noGrp="1"/>
          </p:cNvSpPr>
          <p:nvPr/>
        </p:nvSpPr>
        <p:spPr>
          <a:xfrm>
            <a:off x="571500" y="2505075"/>
            <a:ext cx="10287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B4945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>
                <a:solidFill>
                  <a:srgbClr val="B49450"/>
                </a:solidFill>
                <a:latin typeface="DejaVu Sans Mono"/>
                <a:ea typeface="DejaVu Sans Mono"/>
                <a:cs typeface="DejaVu Sans Mono"/>
              </a:rPr>
              <a:t>400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F74AD6C-6449-4B58-B363-19357C6DFD01}"/>
              </a:ext>
            </a:extLst>
          </p:cNvPr>
          <p:cNvSpPr>
            <a:spLocks noGrp="1"/>
          </p:cNvSpPr>
          <p:nvPr/>
        </p:nvSpPr>
        <p:spPr>
          <a:xfrm>
            <a:off x="1819275" y="2514600"/>
            <a:ext cx="5810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Formato incorrecto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03DDFE2-D1F6-4760-9705-9DAD81C295F2}"/>
              </a:ext>
            </a:extLst>
          </p:cNvPr>
          <p:cNvSpPr>
            <a:spLocks noGrp="1"/>
          </p:cNvSpPr>
          <p:nvPr/>
        </p:nvSpPr>
        <p:spPr>
          <a:xfrm>
            <a:off x="571500" y="3028950"/>
            <a:ext cx="10287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B4945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>
                <a:solidFill>
                  <a:srgbClr val="B49450"/>
                </a:solidFill>
                <a:latin typeface="DejaVu Sans Mono"/>
                <a:ea typeface="DejaVu Sans Mono"/>
                <a:cs typeface="DejaVu Sans Mono"/>
              </a:rPr>
              <a:t>401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88D426-4513-49B8-BB8C-5C3631112603}"/>
              </a:ext>
            </a:extLst>
          </p:cNvPr>
          <p:cNvSpPr>
            <a:spLocks noGrp="1"/>
          </p:cNvSpPr>
          <p:nvPr/>
        </p:nvSpPr>
        <p:spPr>
          <a:xfrm>
            <a:off x="1819275" y="3038475"/>
            <a:ext cx="5810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Credenciales no válidas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635ACCE-6074-4784-90D4-269035A8F26E}"/>
              </a:ext>
            </a:extLst>
          </p:cNvPr>
          <p:cNvSpPr>
            <a:spLocks noGrp="1"/>
          </p:cNvSpPr>
          <p:nvPr/>
        </p:nvSpPr>
        <p:spPr>
          <a:xfrm>
            <a:off x="571500" y="3552825"/>
            <a:ext cx="10287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B4945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>
                <a:solidFill>
                  <a:srgbClr val="B49450"/>
                </a:solidFill>
                <a:latin typeface="DejaVu Sans Mono"/>
                <a:ea typeface="DejaVu Sans Mono"/>
                <a:cs typeface="DejaVu Sans Mono"/>
              </a:rPr>
              <a:t>403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E1F4E97-C3E1-4DE8-8166-3ABE9A665D28}"/>
              </a:ext>
            </a:extLst>
          </p:cNvPr>
          <p:cNvSpPr>
            <a:spLocks noGrp="1"/>
          </p:cNvSpPr>
          <p:nvPr/>
        </p:nvSpPr>
        <p:spPr>
          <a:xfrm>
            <a:off x="1819275" y="3562350"/>
            <a:ext cx="5810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Acceso rechazado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5A028F9-F035-41B4-9E94-142ABEE12C53}"/>
              </a:ext>
            </a:extLst>
          </p:cNvPr>
          <p:cNvSpPr>
            <a:spLocks noGrp="1"/>
          </p:cNvSpPr>
          <p:nvPr/>
        </p:nvSpPr>
        <p:spPr>
          <a:xfrm>
            <a:off x="571500" y="4076700"/>
            <a:ext cx="10287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B4945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>
                <a:solidFill>
                  <a:srgbClr val="B49450"/>
                </a:solidFill>
                <a:latin typeface="DejaVu Sans Mono"/>
                <a:ea typeface="DejaVu Sans Mono"/>
                <a:cs typeface="DejaVu Sans Mono"/>
              </a:rPr>
              <a:t>404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43FC8B5-BE9E-47DD-8EE5-A56253365FF3}"/>
              </a:ext>
            </a:extLst>
          </p:cNvPr>
          <p:cNvSpPr>
            <a:spLocks noGrp="1"/>
          </p:cNvSpPr>
          <p:nvPr/>
        </p:nvSpPr>
        <p:spPr>
          <a:xfrm>
            <a:off x="1819275" y="4086225"/>
            <a:ext cx="5810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Recurso no encontrado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8AEA31D-5719-480E-8CDD-87AD6FC58713}"/>
              </a:ext>
            </a:extLst>
          </p:cNvPr>
          <p:cNvSpPr>
            <a:spLocks noGrp="1"/>
          </p:cNvSpPr>
          <p:nvPr/>
        </p:nvSpPr>
        <p:spPr>
          <a:xfrm>
            <a:off x="571500" y="4600575"/>
            <a:ext cx="10287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B49450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>
                <a:solidFill>
                  <a:srgbClr val="B49450"/>
                </a:solidFill>
                <a:latin typeface="DejaVu Sans Mono"/>
                <a:ea typeface="DejaVu Sans Mono"/>
                <a:cs typeface="DejaVu Sans Mono"/>
              </a:rPr>
              <a:t>429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9703205-7A92-40E6-935A-86E8E2735C6B}"/>
              </a:ext>
            </a:extLst>
          </p:cNvPr>
          <p:cNvSpPr>
            <a:spLocks noGrp="1"/>
          </p:cNvSpPr>
          <p:nvPr/>
        </p:nvSpPr>
        <p:spPr>
          <a:xfrm>
            <a:off x="1819275" y="4610100"/>
            <a:ext cx="5810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Límite de solicitudes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B1F5E21-EC35-4289-B796-2D9E6E34BE2D}"/>
              </a:ext>
            </a:extLst>
          </p:cNvPr>
          <p:cNvSpPr>
            <a:spLocks noGrp="1"/>
          </p:cNvSpPr>
          <p:nvPr/>
        </p:nvSpPr>
        <p:spPr>
          <a:xfrm>
            <a:off x="571500" y="5124450"/>
            <a:ext cx="10287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A34C4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1">
                <a:solidFill>
                  <a:srgbClr val="A34C44"/>
                </a:solidFill>
                <a:latin typeface="DejaVu Sans Mono"/>
                <a:ea typeface="DejaVu Sans Mono"/>
                <a:cs typeface="DejaVu Sans Mono"/>
              </a:rPr>
              <a:t>5xx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896EB45-5CA4-4250-B8C1-91EE43D43439}"/>
              </a:ext>
            </a:extLst>
          </p:cNvPr>
          <p:cNvSpPr>
            <a:spLocks noGrp="1"/>
          </p:cNvSpPr>
          <p:nvPr/>
        </p:nvSpPr>
        <p:spPr>
          <a:xfrm>
            <a:off x="1819275" y="5133975"/>
            <a:ext cx="5810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Problema del servidor</a:t>
            </a:r>
          </a:p>
        </p:txBody>
      </p:sp>
    </p:spTree>
    <p:extLst>
      <p:ext uri="{BB962C8B-B14F-4D97-AF65-F5344CB8AC3E}">
        <p14:creationId xmlns:p14="http://schemas.microsoft.com/office/powerpoint/2010/main" val="303479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27BDB92C-78BB-4E77-B75E-37D051BDF7C4}"/>
              </a:ext>
            </a:extLst>
          </p:cNvPr>
          <p:cNvSpPr>
            <a:spLocks noGrp="1"/>
          </p:cNvSpPr>
          <p:nvPr/>
        </p:nvSpPr>
        <p:spPr>
          <a:xfrm>
            <a:off x="457200" y="1781175"/>
            <a:ext cx="7524750" cy="4191000"/>
          </a:xfrm>
          <a:prstGeom prst="rect">
            <a:avLst/>
          </a:prstGeom>
          <a:solidFill>
            <a:srgbClr val="09233D"/>
          </a:solidFill>
          <a:ln w="0"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A651FD9-C187-4843-BDCF-C9F6C88E4EC1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109537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rPr>
              <a:t>JSON: datos organizados por claves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5912507-895F-40FB-821F-24BAAC8EB18E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7086600" cy="38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{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  </a:t>
            </a:r>
            <a:r>
              <a:rPr>
                <a:solidFill>
                  <a:srgbClr val="E7C985"/>
                </a:solidFill>
              </a:rPr>
              <a:t>"CID"</a:t>
            </a:r>
            <a:r>
              <a:rPr>
                <a:solidFill>
                  <a:srgbClr val="EDF3F5"/>
                </a:solidFill>
              </a:rPr>
              <a:t>: 702,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  </a:t>
            </a:r>
            <a:r>
              <a:rPr>
                <a:solidFill>
                  <a:srgbClr val="E7C985"/>
                </a:solidFill>
              </a:rPr>
              <a:t>"MolecularFormula"</a:t>
            </a:r>
            <a:r>
              <a:rPr>
                <a:solidFill>
                  <a:srgbClr val="EDF3F5"/>
                </a:solidFill>
              </a:rPr>
              <a:t>: </a:t>
            </a:r>
            <a:r>
              <a:rPr>
                <a:solidFill>
                  <a:srgbClr val="E7C985"/>
                </a:solidFill>
              </a:rPr>
              <a:t>"C2H6O"</a:t>
            </a:r>
            <a:r>
              <a:rPr>
                <a:solidFill>
                  <a:srgbClr val="EDF3F5"/>
                </a:solidFill>
              </a:rPr>
              <a:t>,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  </a:t>
            </a:r>
            <a:r>
              <a:rPr>
                <a:solidFill>
                  <a:srgbClr val="E7C985"/>
                </a:solidFill>
              </a:rPr>
              <a:t>"MolecularWeight"</a:t>
            </a:r>
            <a:r>
              <a:rPr>
                <a:solidFill>
                  <a:srgbClr val="EDF3F5"/>
                </a:solidFill>
              </a:rPr>
              <a:t>: </a:t>
            </a:r>
            <a:r>
              <a:rPr>
                <a:solidFill>
                  <a:srgbClr val="E7C985"/>
                </a:solidFill>
              </a:rPr>
              <a:t>"46.07"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}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22319B1-ADF4-41B4-BC02-64205616FE0C}"/>
              </a:ext>
            </a:extLst>
          </p:cNvPr>
          <p:cNvSpPr>
            <a:spLocks noGrp="1"/>
          </p:cNvSpPr>
          <p:nvPr/>
        </p:nvSpPr>
        <p:spPr>
          <a:xfrm>
            <a:off x="8372475" y="2000250"/>
            <a:ext cx="3143250" cy="395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Objeto: { ... }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Pares clave y valor</a:t>
            </a:r>
          </a:p>
          <a:p>
            <a:endParaRPr sz="1800" b="0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Lista: [ ... ]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Varios elementos</a:t>
            </a:r>
          </a:p>
          <a:p>
            <a:endParaRPr sz="1800" b="0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Un valor entre comillas es texto.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7329C43-7D1B-4A9D-AB8F-07E28FA6E5E1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A7DD0671-140B-4EE8-BD77-4D95386ECA3A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11049000" cy="0"/>
          </a:xfrm>
          <a:prstGeom prst="line">
            <a:avLst/>
          </a:prstGeom>
          <a:noFill/>
          <a:ln w="19050">
            <a:solidFill>
              <a:srgbClr val="B4945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9AAA2AE5-2CAE-4D56-8E8D-4BF8D4DDD626}"/>
              </a:ext>
            </a:extLst>
          </p:cNvPr>
          <p:cNvSpPr>
            <a:spLocks noGrp="1"/>
          </p:cNvSpPr>
          <p:nvPr/>
        </p:nvSpPr>
        <p:spPr>
          <a:xfrm>
            <a:off x="571500" y="6219825"/>
            <a:ext cx="11049000" cy="0"/>
          </a:xfrm>
          <a:prstGeom prst="line">
            <a:avLst/>
          </a:prstGeom>
          <a:noFill/>
          <a:ln w="19050">
            <a:solidFill>
              <a:srgbClr val="DDE2E4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38C1E2D2-0CDA-4A55-BB6A-760B95F613A4}"/>
              </a:ext>
            </a:extLst>
          </p:cNvPr>
          <p:cNvSpPr>
            <a:spLocks noGrp="1"/>
          </p:cNvSpPr>
          <p:nvPr/>
        </p:nvSpPr>
        <p:spPr>
          <a:xfrm>
            <a:off x="8010525" y="1924050"/>
            <a:ext cx="0" cy="3619500"/>
          </a:xfrm>
          <a:prstGeom prst="line">
            <a:avLst/>
          </a:prstGeom>
          <a:noFill/>
          <a:ln w="19050">
            <a:solidFill>
              <a:srgbClr val="D4C39D"/>
            </a:solidFill>
          </a:ln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7894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12E5C7B1-190C-4403-8814-BE4C2ECB4CEA}"/>
              </a:ext>
            </a:extLst>
          </p:cNvPr>
          <p:cNvSpPr>
            <a:spLocks noGrp="1"/>
          </p:cNvSpPr>
          <p:nvPr/>
        </p:nvSpPr>
        <p:spPr>
          <a:xfrm>
            <a:off x="457200" y="1781175"/>
            <a:ext cx="7524750" cy="4191000"/>
          </a:xfrm>
          <a:prstGeom prst="rect">
            <a:avLst/>
          </a:prstGeom>
          <a:solidFill>
            <a:srgbClr val="09233D"/>
          </a:solidFill>
          <a:ln w="0"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3562C22-B80C-4B4A-A406-AF8262AC472B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109537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rPr>
              <a:t>Python mínimo para la práctica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AD7D722-6CF5-4AB6-B04F-4132047124BC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7086600" cy="38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nombre = </a:t>
            </a:r>
            <a:r>
              <a:rPr>
                <a:solidFill>
                  <a:srgbClr val="E7C985"/>
                </a:solidFill>
              </a:rPr>
              <a:t>"ethanol"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endParaRPr>
              <a:solidFill>
                <a:srgbClr val="E7C985"/>
              </a:solidFill>
            </a:endParaRP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EAFB9"/>
                </a:solidFill>
              </a:rPr>
              <a:t># Un diccionario guarda pares clave y valor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registro = {</a:t>
            </a:r>
            <a:r>
              <a:rPr>
                <a:solidFill>
                  <a:srgbClr val="E7C985"/>
                </a:solidFill>
              </a:rPr>
              <a:t>"formula"</a:t>
            </a:r>
            <a:r>
              <a:rPr>
                <a:solidFill>
                  <a:srgbClr val="EDF3F5"/>
                </a:solidFill>
              </a:rPr>
              <a:t>: </a:t>
            </a:r>
            <a:r>
              <a:rPr>
                <a:solidFill>
                  <a:srgbClr val="E7C985"/>
                </a:solidFill>
              </a:rPr>
              <a:t>"C2H6O"</a:t>
            </a:r>
            <a:r>
              <a:rPr>
                <a:solidFill>
                  <a:srgbClr val="EDF3F5"/>
                </a:solidFill>
              </a:rPr>
              <a:t>}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print(registro[</a:t>
            </a:r>
            <a:r>
              <a:rPr>
                <a:solidFill>
                  <a:srgbClr val="E7C985"/>
                </a:solidFill>
              </a:rPr>
              <a:t>"formula"</a:t>
            </a:r>
            <a:r>
              <a:rPr>
                <a:solidFill>
                  <a:srgbClr val="EDF3F5"/>
                </a:solidFill>
              </a:rPr>
              <a:t>])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endParaRPr>
              <a:solidFill>
                <a:srgbClr val="EDF3F5"/>
              </a:solidFill>
            </a:endParaRP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EAFB9"/>
                </a:solidFill>
              </a:rPr>
              <a:t># Una lista guarda varios elementos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nombres = [</a:t>
            </a:r>
            <a:r>
              <a:rPr>
                <a:solidFill>
                  <a:srgbClr val="E7C985"/>
                </a:solidFill>
              </a:rPr>
              <a:t>"ethanol"</a:t>
            </a:r>
            <a:r>
              <a:rPr>
                <a:solidFill>
                  <a:srgbClr val="EDF3F5"/>
                </a:solidFill>
              </a:rPr>
              <a:t>, </a:t>
            </a:r>
            <a:r>
              <a:rPr>
                <a:solidFill>
                  <a:srgbClr val="E7C985"/>
                </a:solidFill>
              </a:rPr>
              <a:t>"citric acid"</a:t>
            </a:r>
            <a:r>
              <a:rPr>
                <a:solidFill>
                  <a:srgbClr val="EDF3F5"/>
                </a:solidFill>
              </a:rPr>
              <a:t>]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print(nombres[0])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7F42106-184D-46D5-8BEA-45096AB3F181}"/>
              </a:ext>
            </a:extLst>
          </p:cNvPr>
          <p:cNvSpPr>
            <a:spLocks noGrp="1"/>
          </p:cNvSpPr>
          <p:nvPr/>
        </p:nvSpPr>
        <p:spPr>
          <a:xfrm>
            <a:off x="8372475" y="2000250"/>
            <a:ext cx="3143250" cy="395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= asigna un valor</a:t>
            </a:r>
          </a:p>
          <a:p>
            <a:endParaRPr sz="1800" b="0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print muestra un resultado</a:t>
            </a:r>
          </a:p>
          <a:p>
            <a:endParaRPr sz="1800" b="0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["formula"] busca una clave</a:t>
            </a:r>
          </a:p>
          <a:p>
            <a:endParaRPr sz="1800" b="0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[0] obtiene el primer elemento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8C72F6D-CBB1-4C4F-AE02-2D7E3BDB2C8E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5DBEEC4C-01FE-471C-BF5A-3AA59A69528B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11049000" cy="0"/>
          </a:xfrm>
          <a:prstGeom prst="line">
            <a:avLst/>
          </a:prstGeom>
          <a:noFill/>
          <a:ln w="19050">
            <a:solidFill>
              <a:srgbClr val="B4945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66FFDC86-0F3B-4F90-B480-D666A6F2E1E9}"/>
              </a:ext>
            </a:extLst>
          </p:cNvPr>
          <p:cNvSpPr>
            <a:spLocks noGrp="1"/>
          </p:cNvSpPr>
          <p:nvPr/>
        </p:nvSpPr>
        <p:spPr>
          <a:xfrm>
            <a:off x="571500" y="6219825"/>
            <a:ext cx="11049000" cy="0"/>
          </a:xfrm>
          <a:prstGeom prst="line">
            <a:avLst/>
          </a:prstGeom>
          <a:noFill/>
          <a:ln w="19050">
            <a:solidFill>
              <a:srgbClr val="DDE2E4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8A3D42E6-DA00-4EEC-83B5-507CC91DD792}"/>
              </a:ext>
            </a:extLst>
          </p:cNvPr>
          <p:cNvSpPr>
            <a:spLocks noGrp="1"/>
          </p:cNvSpPr>
          <p:nvPr/>
        </p:nvSpPr>
        <p:spPr>
          <a:xfrm>
            <a:off x="8010525" y="1924050"/>
            <a:ext cx="0" cy="3619500"/>
          </a:xfrm>
          <a:prstGeom prst="line">
            <a:avLst/>
          </a:prstGeom>
          <a:noFill/>
          <a:ln w="19050">
            <a:solidFill>
              <a:srgbClr val="D4C39D"/>
            </a:solidFill>
          </a:ln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06878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9C37CBB9-A70E-46C0-8C6E-5A7743EB5ED2}"/>
              </a:ext>
            </a:extLst>
          </p:cNvPr>
          <p:cNvSpPr>
            <a:spLocks noGrp="1"/>
          </p:cNvSpPr>
          <p:nvPr/>
        </p:nvSpPr>
        <p:spPr>
          <a:xfrm>
            <a:off x="457200" y="1781175"/>
            <a:ext cx="7524750" cy="4191000"/>
          </a:xfrm>
          <a:prstGeom prst="rect">
            <a:avLst/>
          </a:prstGeom>
          <a:solidFill>
            <a:srgbClr val="09233D"/>
          </a:solidFill>
          <a:ln w="0"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ADF12AD-7D75-4E66-AD63-1BD93A3CB6AA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109537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rPr>
              <a:t>Preparación del entorno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8370D80-9407-4294-8010-43187E4E0F9F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7086600" cy="38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650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En Jupyter o Google Colab:</a:t>
            </a:r>
          </a:p>
          <a:p>
            <a:pPr>
              <a:defRPr sz="1650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endParaRPr>
              <a:solidFill>
                <a:srgbClr val="EDF3F5"/>
              </a:solidFill>
            </a:endParaRPr>
          </a:p>
          <a:p>
            <a:pPr>
              <a:defRPr sz="1650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%pip install requests pandas</a:t>
            </a:r>
          </a:p>
          <a:p>
            <a:pPr>
              <a:defRPr sz="1650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endParaRPr>
              <a:solidFill>
                <a:srgbClr val="EDF3F5"/>
              </a:solidFill>
            </a:endParaRPr>
          </a:p>
          <a:p>
            <a:pPr>
              <a:defRPr sz="1650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En otra celda:</a:t>
            </a:r>
          </a:p>
          <a:p>
            <a:pPr>
              <a:defRPr sz="1650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endParaRPr>
              <a:solidFill>
                <a:srgbClr val="EDF3F5"/>
              </a:solidFill>
            </a:endParaRPr>
          </a:p>
          <a:p>
            <a:pPr>
              <a:defRPr sz="1650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DD5DB"/>
                </a:solidFill>
              </a:rPr>
              <a:t>import</a:t>
            </a:r>
            <a:r>
              <a:rPr>
                <a:solidFill>
                  <a:srgbClr val="EDF3F5"/>
                </a:solidFill>
              </a:rPr>
              <a:t> requests</a:t>
            </a:r>
          </a:p>
          <a:p>
            <a:pPr>
              <a:defRPr sz="1650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DD5DB"/>
                </a:solidFill>
              </a:rPr>
              <a:t>import</a:t>
            </a:r>
            <a:r>
              <a:rPr>
                <a:solidFill>
                  <a:srgbClr val="EDF3F5"/>
                </a:solidFill>
              </a:rPr>
              <a:t> pandas as pd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298D371-514D-437D-B1EF-E354917EFA97}"/>
              </a:ext>
            </a:extLst>
          </p:cNvPr>
          <p:cNvSpPr>
            <a:spLocks noGrp="1"/>
          </p:cNvSpPr>
          <p:nvPr/>
        </p:nvSpPr>
        <p:spPr>
          <a:xfrm>
            <a:off x="8372475" y="2000250"/>
            <a:ext cx="3143250" cy="395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requests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Envía peticiones web.</a:t>
            </a:r>
          </a:p>
          <a:p>
            <a:endParaRPr sz="1800" b="0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pandas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Organiza datos en tablas.</a:t>
            </a:r>
          </a:p>
          <a:p>
            <a:endParaRPr sz="1800" b="0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La práctica requiere internet.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5D96A66-5783-4C4F-91F7-82B8FB27C83E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F6225613-A156-4364-A5A6-F17E00072460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11049000" cy="0"/>
          </a:xfrm>
          <a:prstGeom prst="line">
            <a:avLst/>
          </a:prstGeom>
          <a:noFill/>
          <a:ln w="19050">
            <a:solidFill>
              <a:srgbClr val="B4945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62D9D7B6-BD4B-46D8-BC35-689302421ED9}"/>
              </a:ext>
            </a:extLst>
          </p:cNvPr>
          <p:cNvSpPr>
            <a:spLocks noGrp="1"/>
          </p:cNvSpPr>
          <p:nvPr/>
        </p:nvSpPr>
        <p:spPr>
          <a:xfrm>
            <a:off x="571500" y="6219825"/>
            <a:ext cx="11049000" cy="0"/>
          </a:xfrm>
          <a:prstGeom prst="line">
            <a:avLst/>
          </a:prstGeom>
          <a:noFill/>
          <a:ln w="19050">
            <a:solidFill>
              <a:srgbClr val="DDE2E4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F36CB73F-35AE-4A6B-8F9C-2F601B787A45}"/>
              </a:ext>
            </a:extLst>
          </p:cNvPr>
          <p:cNvSpPr>
            <a:spLocks noGrp="1"/>
          </p:cNvSpPr>
          <p:nvPr/>
        </p:nvSpPr>
        <p:spPr>
          <a:xfrm>
            <a:off x="8010525" y="1924050"/>
            <a:ext cx="0" cy="3619500"/>
          </a:xfrm>
          <a:prstGeom prst="line">
            <a:avLst/>
          </a:prstGeom>
          <a:noFill/>
          <a:ln w="19050">
            <a:solidFill>
              <a:srgbClr val="D4C39D"/>
            </a:solidFill>
          </a:ln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53113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57683D29-FC3D-4687-8134-D4D5E29625E9}"/>
              </a:ext>
            </a:extLst>
          </p:cNvPr>
          <p:cNvSpPr>
            <a:spLocks noGrp="1"/>
          </p:cNvSpPr>
          <p:nvPr/>
        </p:nvSpPr>
        <p:spPr>
          <a:xfrm>
            <a:off x="457200" y="1781175"/>
            <a:ext cx="7524750" cy="4191000"/>
          </a:xfrm>
          <a:prstGeom prst="rect">
            <a:avLst/>
          </a:prstGeom>
          <a:solidFill>
            <a:srgbClr val="09233D"/>
          </a:solidFill>
          <a:ln w="0"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026F8B0-DB8F-4E3B-944C-54D879D0EC8D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109537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rPr>
              <a:t>Primera consulta a PubChem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01A5D23-1725-4973-B0B1-310CDDC52A6A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7086600" cy="38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base = (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    </a:t>
            </a:r>
            <a:r>
              <a:rPr>
                <a:solidFill>
                  <a:srgbClr val="E7C985"/>
                </a:solidFill>
              </a:rPr>
              <a:t>"https://pubchem.ncbi.nlm.nih.gov/rest/pug"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)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ruta = </a:t>
            </a:r>
            <a:r>
              <a:rPr>
                <a:solidFill>
                  <a:srgbClr val="E7C985"/>
                </a:solidFill>
              </a:rPr>
              <a:t>"/compound/name/ethanol/property/"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campos = </a:t>
            </a:r>
            <a:r>
              <a:rPr>
                <a:solidFill>
                  <a:srgbClr val="E7C985"/>
                </a:solidFill>
              </a:rPr>
              <a:t>"MolecularFormula,MolecularWeight"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url = base + ruta + campos + </a:t>
            </a:r>
            <a:r>
              <a:rPr>
                <a:solidFill>
                  <a:srgbClr val="E7C985"/>
                </a:solidFill>
              </a:rPr>
              <a:t>"/JSON"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endParaRPr>
              <a:solidFill>
                <a:srgbClr val="E7C985"/>
              </a:solidFill>
            </a:endParaRP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respuesta = requests.get(url, timeout=30)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print(respuesta.status_code)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respuesta.raise_for_status()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B0BC3A7-A250-46C5-9743-88EC91E23456}"/>
              </a:ext>
            </a:extLst>
          </p:cNvPr>
          <p:cNvSpPr>
            <a:spLocks noGrp="1"/>
          </p:cNvSpPr>
          <p:nvPr/>
        </p:nvSpPr>
        <p:spPr>
          <a:xfrm>
            <a:off x="8372475" y="2000250"/>
            <a:ext cx="3143250" cy="395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get envía la petición.</a:t>
            </a:r>
          </a:p>
          <a:p>
            <a:endParaRPr sz="1800" b="0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timeout limita la espera de conexión o lectura.</a:t>
            </a:r>
          </a:p>
          <a:p>
            <a:endParaRPr sz="1800" b="0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raise_for_status genera un error ante estados 4xx o 5xx.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2F2A7AA-0A55-4607-BEE8-95E9E0696B01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AA8BAF97-2ED5-48CE-AE0E-ADC68AE20BCC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11049000" cy="0"/>
          </a:xfrm>
          <a:prstGeom prst="line">
            <a:avLst/>
          </a:prstGeom>
          <a:noFill/>
          <a:ln w="19050">
            <a:solidFill>
              <a:srgbClr val="B4945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71153EB5-38FB-4E2D-9E60-2A6B85DB1711}"/>
              </a:ext>
            </a:extLst>
          </p:cNvPr>
          <p:cNvSpPr>
            <a:spLocks noGrp="1"/>
          </p:cNvSpPr>
          <p:nvPr/>
        </p:nvSpPr>
        <p:spPr>
          <a:xfrm>
            <a:off x="571500" y="6219825"/>
            <a:ext cx="11049000" cy="0"/>
          </a:xfrm>
          <a:prstGeom prst="line">
            <a:avLst/>
          </a:prstGeom>
          <a:noFill/>
          <a:ln w="19050">
            <a:solidFill>
              <a:srgbClr val="DDE2E4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14708B0C-F5EE-4358-A954-7EE02334C8DB}"/>
              </a:ext>
            </a:extLst>
          </p:cNvPr>
          <p:cNvSpPr>
            <a:spLocks noGrp="1"/>
          </p:cNvSpPr>
          <p:nvPr/>
        </p:nvSpPr>
        <p:spPr>
          <a:xfrm>
            <a:off x="8010525" y="1924050"/>
            <a:ext cx="0" cy="3619500"/>
          </a:xfrm>
          <a:prstGeom prst="line">
            <a:avLst/>
          </a:prstGeom>
          <a:noFill/>
          <a:ln w="19050">
            <a:solidFill>
              <a:srgbClr val="D4C39D"/>
            </a:solidFill>
          </a:ln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17496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589F239F-DC34-4120-B700-65A0CEBCF466}"/>
              </a:ext>
            </a:extLst>
          </p:cNvPr>
          <p:cNvSpPr>
            <a:spLocks noGrp="1"/>
          </p:cNvSpPr>
          <p:nvPr/>
        </p:nvSpPr>
        <p:spPr>
          <a:xfrm>
            <a:off x="457200" y="1781175"/>
            <a:ext cx="7524750" cy="4191000"/>
          </a:xfrm>
          <a:prstGeom prst="rect">
            <a:avLst/>
          </a:prstGeom>
          <a:solidFill>
            <a:srgbClr val="09233D"/>
          </a:solidFill>
          <a:ln w="0"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1DEFD8F-4173-404B-BFB3-D4D162BA891B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109537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rPr>
              <a:t>Lectura de la respuesta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DB72EBC-32A4-407F-BF47-C34BA07C047B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7086600" cy="38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datos = respuesta.json()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endParaRPr>
              <a:solidFill>
                <a:srgbClr val="EDF3F5"/>
              </a:solidFill>
            </a:endParaRP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EAFB9"/>
                </a:solidFill>
              </a:rPr>
              <a:t># Primero observamos cómo se organizan los datos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print(datos.keys())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endParaRPr>
              <a:solidFill>
                <a:srgbClr val="EDF3F5"/>
              </a:solidFill>
            </a:endParaRP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registros = datos[</a:t>
            </a:r>
            <a:r>
              <a:rPr>
                <a:solidFill>
                  <a:srgbClr val="E7C985"/>
                </a:solidFill>
              </a:rPr>
              <a:t>"PropertyTable"</a:t>
            </a:r>
            <a:r>
              <a:rPr>
                <a:solidFill>
                  <a:srgbClr val="EDF3F5"/>
                </a:solidFill>
              </a:rPr>
              <a:t>][</a:t>
            </a:r>
            <a:r>
              <a:rPr>
                <a:solidFill>
                  <a:srgbClr val="E7C985"/>
                </a:solidFill>
              </a:rPr>
              <a:t>"Properties"</a:t>
            </a:r>
            <a:r>
              <a:rPr>
                <a:solidFill>
                  <a:srgbClr val="EDF3F5"/>
                </a:solidFill>
              </a:rPr>
              <a:t>]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registro = registros[0]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endParaRPr>
              <a:solidFill>
                <a:srgbClr val="EDF3F5"/>
              </a:solidFill>
            </a:endParaRP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print(registro[</a:t>
            </a:r>
            <a:r>
              <a:rPr>
                <a:solidFill>
                  <a:srgbClr val="E7C985"/>
                </a:solidFill>
              </a:rPr>
              <a:t>"MolecularFormula"</a:t>
            </a:r>
            <a:r>
              <a:rPr>
                <a:solidFill>
                  <a:srgbClr val="EDF3F5"/>
                </a:solidFill>
              </a:rPr>
              <a:t>])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print(registro[</a:t>
            </a:r>
            <a:r>
              <a:rPr>
                <a:solidFill>
                  <a:srgbClr val="E7C985"/>
                </a:solidFill>
              </a:rPr>
              <a:t>"MolecularWeight"</a:t>
            </a:r>
            <a:r>
              <a:rPr>
                <a:solidFill>
                  <a:srgbClr val="EDF3F5"/>
                </a:solidFill>
              </a:rPr>
              <a:t>])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6BD3AD1-0811-482F-8BDF-942BDC3E04EC}"/>
              </a:ext>
            </a:extLst>
          </p:cNvPr>
          <p:cNvSpPr>
            <a:spLocks noGrp="1"/>
          </p:cNvSpPr>
          <p:nvPr/>
        </p:nvSpPr>
        <p:spPr>
          <a:xfrm>
            <a:off x="8372475" y="2000250"/>
            <a:ext cx="3143250" cy="395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json() convierte el JSON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a estructuras de Python.</a:t>
            </a:r>
          </a:p>
          <a:p>
            <a:endParaRPr sz="1800" b="0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PropertyTable contiene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Properties.</a:t>
            </a:r>
          </a:p>
          <a:p>
            <a:endParaRPr sz="1800" b="0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Properties es una lista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de registros.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3744B8E-028F-4F9E-946B-9372885C7A5F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D8F0153E-DB00-44BF-BDC1-6A268550EC73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11049000" cy="0"/>
          </a:xfrm>
          <a:prstGeom prst="line">
            <a:avLst/>
          </a:prstGeom>
          <a:noFill/>
          <a:ln w="19050">
            <a:solidFill>
              <a:srgbClr val="B4945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8FC40298-4151-46C2-AD2E-7867EC10EB03}"/>
              </a:ext>
            </a:extLst>
          </p:cNvPr>
          <p:cNvSpPr>
            <a:spLocks noGrp="1"/>
          </p:cNvSpPr>
          <p:nvPr/>
        </p:nvSpPr>
        <p:spPr>
          <a:xfrm>
            <a:off x="571500" y="6219825"/>
            <a:ext cx="11049000" cy="0"/>
          </a:xfrm>
          <a:prstGeom prst="line">
            <a:avLst/>
          </a:prstGeom>
          <a:noFill/>
          <a:ln w="19050">
            <a:solidFill>
              <a:srgbClr val="DDE2E4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2EE8F6DD-E12B-4670-88BC-12C27FC9D054}"/>
              </a:ext>
            </a:extLst>
          </p:cNvPr>
          <p:cNvSpPr>
            <a:spLocks noGrp="1"/>
          </p:cNvSpPr>
          <p:nvPr/>
        </p:nvSpPr>
        <p:spPr>
          <a:xfrm>
            <a:off x="8010525" y="1924050"/>
            <a:ext cx="0" cy="3619500"/>
          </a:xfrm>
          <a:prstGeom prst="line">
            <a:avLst/>
          </a:prstGeom>
          <a:noFill/>
          <a:ln w="19050">
            <a:solidFill>
              <a:srgbClr val="D4C39D"/>
            </a:solidFill>
          </a:ln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2974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55C48844-F42E-4AEA-BE33-7E3B9FBF26A5}"/>
              </a:ext>
            </a:extLst>
          </p:cNvPr>
          <p:cNvSpPr>
            <a:spLocks noGrp="1"/>
          </p:cNvSpPr>
          <p:nvPr/>
        </p:nvSpPr>
        <p:spPr>
          <a:xfrm>
            <a:off x="457200" y="1781175"/>
            <a:ext cx="7524750" cy="4191000"/>
          </a:xfrm>
          <a:prstGeom prst="rect">
            <a:avLst/>
          </a:prstGeom>
          <a:solidFill>
            <a:srgbClr val="09233D"/>
          </a:solidFill>
          <a:ln w="0"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830F7F3-B5B0-42EF-8F48-B1BD0BC5F79C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109537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rPr>
              <a:t>Una tabla para trabajar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083E752-573D-4D4B-83EC-AA348646D140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7086600" cy="38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tabla = pd.DataFrame(registros)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endParaRPr>
              <a:solidFill>
                <a:srgbClr val="EDF3F5"/>
              </a:solidFill>
            </a:endParaRP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EAFB9"/>
                </a:solidFill>
              </a:rPr>
              <a:t># Conversión explícita para poder calcular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tabla[</a:t>
            </a:r>
            <a:r>
              <a:rPr>
                <a:solidFill>
                  <a:srgbClr val="E7C985"/>
                </a:solidFill>
              </a:rPr>
              <a:t>"MolecularWeight"</a:t>
            </a:r>
            <a:r>
              <a:rPr>
                <a:solidFill>
                  <a:srgbClr val="EDF3F5"/>
                </a:solidFill>
              </a:rPr>
              <a:t>] = pd.to_numeric(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    tabla[</a:t>
            </a:r>
            <a:r>
              <a:rPr>
                <a:solidFill>
                  <a:srgbClr val="E7C985"/>
                </a:solidFill>
              </a:rPr>
              <a:t>"MolecularWeight"</a:t>
            </a:r>
            <a:r>
              <a:rPr>
                <a:solidFill>
                  <a:srgbClr val="EDF3F5"/>
                </a:solidFill>
              </a:rPr>
              <a:t>], errors=</a:t>
            </a:r>
            <a:r>
              <a:rPr>
                <a:solidFill>
                  <a:srgbClr val="E7C985"/>
                </a:solidFill>
              </a:rPr>
              <a:t>"raise"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)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endParaRPr>
              <a:solidFill>
                <a:srgbClr val="EDF3F5"/>
              </a:solidFill>
            </a:endParaRP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print(tabla)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tabla.to_csv(</a:t>
            </a:r>
            <a:r>
              <a:rPr>
                <a:solidFill>
                  <a:srgbClr val="E7C985"/>
                </a:solidFill>
              </a:rPr>
              <a:t>"propiedades.csv"</a:t>
            </a:r>
            <a:r>
              <a:rPr>
                <a:solidFill>
                  <a:srgbClr val="EDF3F5"/>
                </a:solidFill>
              </a:rPr>
              <a:t>, index=False)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168C8A9-CA97-4235-A7E9-DAC9332BE55D}"/>
              </a:ext>
            </a:extLst>
          </p:cNvPr>
          <p:cNvSpPr>
            <a:spLocks noGrp="1"/>
          </p:cNvSpPr>
          <p:nvPr/>
        </p:nvSpPr>
        <p:spPr>
          <a:xfrm>
            <a:off x="8372475" y="2000250"/>
            <a:ext cx="3143250" cy="395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Una fila por registro.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Una columna por campo.</a:t>
            </a:r>
          </a:p>
          <a:p>
            <a:endParaRPr sz="1800" b="0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CSV abre en Excel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y también en Python.</a:t>
            </a:r>
          </a:p>
          <a:p>
            <a:endParaRPr sz="1800" b="0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index=False evita guardar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el índice del DataFrame.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B91AD08-AFD4-4270-9C70-798288A60F43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7EC681B9-4D0C-4E09-BB99-305C11364755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11049000" cy="0"/>
          </a:xfrm>
          <a:prstGeom prst="line">
            <a:avLst/>
          </a:prstGeom>
          <a:noFill/>
          <a:ln w="19050">
            <a:solidFill>
              <a:srgbClr val="B4945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BAB7508D-61DA-4EC5-B906-97F44CE1EDE2}"/>
              </a:ext>
            </a:extLst>
          </p:cNvPr>
          <p:cNvSpPr>
            <a:spLocks noGrp="1"/>
          </p:cNvSpPr>
          <p:nvPr/>
        </p:nvSpPr>
        <p:spPr>
          <a:xfrm>
            <a:off x="571500" y="6219825"/>
            <a:ext cx="11049000" cy="0"/>
          </a:xfrm>
          <a:prstGeom prst="line">
            <a:avLst/>
          </a:prstGeom>
          <a:noFill/>
          <a:ln w="19050">
            <a:solidFill>
              <a:srgbClr val="DDE2E4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30B926E1-EB64-47CE-8797-9455A5415559}"/>
              </a:ext>
            </a:extLst>
          </p:cNvPr>
          <p:cNvSpPr>
            <a:spLocks noGrp="1"/>
          </p:cNvSpPr>
          <p:nvPr/>
        </p:nvSpPr>
        <p:spPr>
          <a:xfrm>
            <a:off x="8010525" y="1924050"/>
            <a:ext cx="0" cy="3619500"/>
          </a:xfrm>
          <a:prstGeom prst="line">
            <a:avLst/>
          </a:prstGeom>
          <a:noFill/>
          <a:ln w="19050">
            <a:solidFill>
              <a:srgbClr val="D4C39D"/>
            </a:solidFill>
          </a:ln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093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B66AB870-17D5-4746-A8C3-67DB1851C460}"/>
              </a:ext>
            </a:extLst>
          </p:cNvPr>
          <p:cNvSpPr>
            <a:spLocks noGrp="1"/>
          </p:cNvSpPr>
          <p:nvPr/>
        </p:nvSpPr>
        <p:spPr>
          <a:xfrm>
            <a:off x="457200" y="1781175"/>
            <a:ext cx="7524750" cy="4191000"/>
          </a:xfrm>
          <a:prstGeom prst="rect">
            <a:avLst/>
          </a:prstGeom>
          <a:solidFill>
            <a:srgbClr val="09233D"/>
          </a:solidFill>
          <a:ln w="0"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DC00C42-6536-49D0-B3AC-4C7CB690B31D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109537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rPr>
              <a:t>Consulta de varios compuestos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E4AD578-CB6C-4F17-99B8-9D6AB8B6DEE4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7086600" cy="38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base = </a:t>
            </a:r>
            <a:r>
              <a:rPr>
                <a:solidFill>
                  <a:srgbClr val="E7C985"/>
                </a:solidFill>
              </a:rPr>
              <a:t>"https://pubchem.ncbi.nlm.nih.gov/rest/pug"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cids = </a:t>
            </a:r>
            <a:r>
              <a:rPr>
                <a:solidFill>
                  <a:srgbClr val="E7C985"/>
                </a:solidFill>
              </a:rPr>
              <a:t>"702,311,174"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campos = </a:t>
            </a:r>
            <a:r>
              <a:rPr>
                <a:solidFill>
                  <a:srgbClr val="E7C985"/>
                </a:solidFill>
              </a:rPr>
              <a:t>"MolecularFormula,MolecularWeight"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url = (f</a:t>
            </a:r>
            <a:r>
              <a:rPr>
                <a:solidFill>
                  <a:srgbClr val="E7C985"/>
                </a:solidFill>
              </a:rPr>
              <a:t>"{base}/compound/cid/{cids}/property/"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       f</a:t>
            </a:r>
            <a:r>
              <a:rPr>
                <a:solidFill>
                  <a:srgbClr val="E7C985"/>
                </a:solidFill>
              </a:rPr>
              <a:t>"{campos}/JSON"</a:t>
            </a:r>
            <a:r>
              <a:rPr>
                <a:solidFill>
                  <a:srgbClr val="EDF3F5"/>
                </a:solidFill>
              </a:rPr>
              <a:t>)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endParaRPr>
              <a:solidFill>
                <a:srgbClr val="EDF3F5"/>
              </a:solidFill>
            </a:endParaRP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r = requests.get(url, timeout=30)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r.raise_for_status()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filas = r.json()[</a:t>
            </a:r>
            <a:r>
              <a:rPr>
                <a:solidFill>
                  <a:srgbClr val="E7C985"/>
                </a:solidFill>
              </a:rPr>
              <a:t>"PropertyTable"</a:t>
            </a:r>
            <a:r>
              <a:rPr>
                <a:solidFill>
                  <a:srgbClr val="EDF3F5"/>
                </a:solidFill>
              </a:rPr>
              <a:t>][</a:t>
            </a:r>
            <a:r>
              <a:rPr>
                <a:solidFill>
                  <a:srgbClr val="E7C985"/>
                </a:solidFill>
              </a:rPr>
              <a:t>"Properties"</a:t>
            </a:r>
            <a:r>
              <a:rPr>
                <a:solidFill>
                  <a:srgbClr val="EDF3F5"/>
                </a:solidFill>
              </a:rPr>
              <a:t>]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tabla = pd.DataFrame(filas)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C7D4C5F-1854-474D-8580-FBD5972812A7}"/>
              </a:ext>
            </a:extLst>
          </p:cNvPr>
          <p:cNvSpPr>
            <a:spLocks noGrp="1"/>
          </p:cNvSpPr>
          <p:nvPr/>
        </p:nvSpPr>
        <p:spPr>
          <a:xfrm>
            <a:off x="8372475" y="2000250"/>
            <a:ext cx="3143250" cy="395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CID 702: etanol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CID 311: ácido cítrico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CID 174: etilenglicol</a:t>
            </a:r>
          </a:p>
          <a:p>
            <a:endParaRPr sz="1800" b="0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Una consulta por lote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reduce el número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de peticiones.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3090765-C031-4110-BC1E-F6D77A62833F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8B3B5379-C4E4-468E-86DA-E9E521D8E18E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11049000" cy="0"/>
          </a:xfrm>
          <a:prstGeom prst="line">
            <a:avLst/>
          </a:prstGeom>
          <a:noFill/>
          <a:ln w="19050">
            <a:solidFill>
              <a:srgbClr val="B4945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73FCEE8E-7359-4BBC-9753-DC442295F268}"/>
              </a:ext>
            </a:extLst>
          </p:cNvPr>
          <p:cNvSpPr>
            <a:spLocks noGrp="1"/>
          </p:cNvSpPr>
          <p:nvPr/>
        </p:nvSpPr>
        <p:spPr>
          <a:xfrm>
            <a:off x="571500" y="6219825"/>
            <a:ext cx="11049000" cy="0"/>
          </a:xfrm>
          <a:prstGeom prst="line">
            <a:avLst/>
          </a:prstGeom>
          <a:noFill/>
          <a:ln w="19050">
            <a:solidFill>
              <a:srgbClr val="DDE2E4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4269F0F5-C2DA-4DD7-ACCB-FA91B02761BB}"/>
              </a:ext>
            </a:extLst>
          </p:cNvPr>
          <p:cNvSpPr>
            <a:spLocks noGrp="1"/>
          </p:cNvSpPr>
          <p:nvPr/>
        </p:nvSpPr>
        <p:spPr>
          <a:xfrm>
            <a:off x="8010525" y="1924050"/>
            <a:ext cx="0" cy="3619500"/>
          </a:xfrm>
          <a:prstGeom prst="line">
            <a:avLst/>
          </a:prstGeom>
          <a:noFill/>
          <a:ln w="19050">
            <a:solidFill>
              <a:srgbClr val="D4C39D"/>
            </a:solidFill>
          </a:ln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8518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35CF65C4-91D3-46F5-BD88-68B2E2450140}"/>
              </a:ext>
            </a:extLst>
          </p:cNvPr>
          <p:cNvSpPr>
            <a:spLocks noGrp="1"/>
          </p:cNvSpPr>
          <p:nvPr/>
        </p:nvSpPr>
        <p:spPr>
          <a:xfrm>
            <a:off x="457200" y="1781175"/>
            <a:ext cx="7524750" cy="4191000"/>
          </a:xfrm>
          <a:prstGeom prst="rect">
            <a:avLst/>
          </a:prstGeom>
          <a:solidFill>
            <a:srgbClr val="09233D"/>
          </a:solidFill>
          <a:ln w="0"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90882C3-6F2B-403E-83E2-83D72148DE64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109537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rPr>
              <a:t>Cuando la consulta falla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AA64613-6910-48E2-89F2-18E3BC0B5FDB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7086600" cy="38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DD5DB"/>
                </a:solidFill>
              </a:rPr>
              <a:t>try</a:t>
            </a:r>
            <a:r>
              <a:rPr>
                <a:solidFill>
                  <a:srgbClr val="EDF3F5"/>
                </a:solidFill>
              </a:rPr>
              <a:t>: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    r = requests.get(url, timeout=30)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    r.raise_for_status()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    datos = r.json()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DD5DB"/>
                </a:solidFill>
              </a:rPr>
              <a:t>except</a:t>
            </a:r>
            <a:r>
              <a:rPr>
                <a:solidFill>
                  <a:srgbClr val="EDF3F5"/>
                </a:solidFill>
              </a:rPr>
              <a:t> requests.exceptions.Timeout: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    print(</a:t>
            </a:r>
            <a:r>
              <a:rPr>
                <a:solidFill>
                  <a:srgbClr val="E7C985"/>
                </a:solidFill>
              </a:rPr>
              <a:t>"El servicio tardó demasiado."</a:t>
            </a:r>
            <a:r>
              <a:rPr>
                <a:solidFill>
                  <a:srgbClr val="EDF3F5"/>
                </a:solidFill>
              </a:rPr>
              <a:t>)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DD5DB"/>
                </a:solidFill>
              </a:rPr>
              <a:t>except</a:t>
            </a:r>
            <a:r>
              <a:rPr>
                <a:solidFill>
                  <a:srgbClr val="EDF3F5"/>
                </a:solidFill>
              </a:rPr>
              <a:t> requests.exceptions.JSONDecodeError: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    print(</a:t>
            </a:r>
            <a:r>
              <a:rPr>
                <a:solidFill>
                  <a:srgbClr val="E7C985"/>
                </a:solidFill>
              </a:rPr>
              <a:t>"La respuesta no contiene JSON válido."</a:t>
            </a:r>
            <a:r>
              <a:rPr>
                <a:solidFill>
                  <a:srgbClr val="EDF3F5"/>
                </a:solidFill>
              </a:rPr>
              <a:t>)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DD5DB"/>
                </a:solidFill>
              </a:rPr>
              <a:t>except</a:t>
            </a:r>
            <a:r>
              <a:rPr>
                <a:solidFill>
                  <a:srgbClr val="EDF3F5"/>
                </a:solidFill>
              </a:rPr>
              <a:t> requests.exceptions.RequestException as error:</a:t>
            </a:r>
          </a:p>
          <a:p>
            <a:pPr>
              <a:defRPr sz="1538" b="0">
                <a:solidFill>
                  <a:srgbClr val="EDF3F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EDF3F5"/>
                </a:solidFill>
              </a:rPr>
              <a:t>    print(</a:t>
            </a:r>
            <a:r>
              <a:rPr>
                <a:solidFill>
                  <a:srgbClr val="E7C985"/>
                </a:solidFill>
              </a:rPr>
              <a:t>"Falló la consulta:"</a:t>
            </a:r>
            <a:r>
              <a:rPr>
                <a:solidFill>
                  <a:srgbClr val="EDF3F5"/>
                </a:solidFill>
              </a:rPr>
              <a:t>, error)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E46E570-42FE-4A93-8FCA-2817A64D9C06}"/>
              </a:ext>
            </a:extLst>
          </p:cNvPr>
          <p:cNvSpPr>
            <a:spLocks noGrp="1"/>
          </p:cNvSpPr>
          <p:nvPr/>
        </p:nvSpPr>
        <p:spPr>
          <a:xfrm>
            <a:off x="8372475" y="2000250"/>
            <a:ext cx="3143250" cy="395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try intenta ejecutar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el bloque indentado.</a:t>
            </a:r>
          </a:p>
          <a:p>
            <a:endParaRPr sz="1800" b="0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except responde a un error.</a:t>
            </a:r>
          </a:p>
          <a:p>
            <a:endParaRPr sz="1800" b="0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Un error en las claves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del JSON requiere revisar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su estructura.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C04DBD7-90F7-44B0-866C-5710D4066AC4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18E238F3-574F-47A6-9C37-B921680C7688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11049000" cy="0"/>
          </a:xfrm>
          <a:prstGeom prst="line">
            <a:avLst/>
          </a:prstGeom>
          <a:noFill/>
          <a:ln w="19050">
            <a:solidFill>
              <a:srgbClr val="B4945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0AA8003F-6C0E-4F2A-9B70-560DE4AD7309}"/>
              </a:ext>
            </a:extLst>
          </p:cNvPr>
          <p:cNvSpPr>
            <a:spLocks noGrp="1"/>
          </p:cNvSpPr>
          <p:nvPr/>
        </p:nvSpPr>
        <p:spPr>
          <a:xfrm>
            <a:off x="571500" y="6219825"/>
            <a:ext cx="11049000" cy="0"/>
          </a:xfrm>
          <a:prstGeom prst="line">
            <a:avLst/>
          </a:prstGeom>
          <a:noFill/>
          <a:ln w="19050">
            <a:solidFill>
              <a:srgbClr val="DDE2E4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ACEB0EBE-DFE5-425E-AB5F-2A86B980B528}"/>
              </a:ext>
            </a:extLst>
          </p:cNvPr>
          <p:cNvSpPr>
            <a:spLocks noGrp="1"/>
          </p:cNvSpPr>
          <p:nvPr/>
        </p:nvSpPr>
        <p:spPr>
          <a:xfrm>
            <a:off x="8010525" y="1924050"/>
            <a:ext cx="0" cy="3619500"/>
          </a:xfrm>
          <a:prstGeom prst="line">
            <a:avLst/>
          </a:prstGeom>
          <a:noFill/>
          <a:ln w="19050">
            <a:solidFill>
              <a:srgbClr val="D4C39D"/>
            </a:solidFill>
          </a:ln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13843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D7B5007D-A1A0-4A15-9A1D-89D2D57E8636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109537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rPr>
              <a:t>Claves de acceso y límites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9ED4A15-FC61-4833-9A4D-8D81BB29FF54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7124700" cy="3905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Algunas APIs requieren una clave de acceso.</a:t>
            </a: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La clave identifica a quien hace la consulta.</a:t>
            </a:r>
          </a:p>
          <a:p>
            <a:endParaRPr sz="2100" b="0">
              <a:solidFill>
                <a:srgbClr val="17334A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PubChem permite estas consultas sin clave.</a:t>
            </a: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Materials Project requiere una clave de API.</a:t>
            </a:r>
          </a:p>
          <a:p>
            <a:endParaRPr sz="2100" b="0">
              <a:solidFill>
                <a:srgbClr val="17334A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PubChem pide no superar 5 solicitudes por segundo.</a:t>
            </a: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Conviene consultar por lotes y guardar resultados.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662B20B-9B58-41E0-AC9D-D4320994E72E}"/>
              </a:ext>
            </a:extLst>
          </p:cNvPr>
          <p:cNvSpPr>
            <a:spLocks noGrp="1"/>
          </p:cNvSpPr>
          <p:nvPr/>
        </p:nvSpPr>
        <p:spPr>
          <a:xfrm>
            <a:off x="8286750" y="1971675"/>
            <a:ext cx="3238500" cy="3905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Una clave es privada</a:t>
            </a:r>
          </a:p>
          <a:p>
            <a:endParaRPr sz="1800" b="1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Se puede guardar en una variable de entorno.</a:t>
            </a:r>
          </a:p>
          <a:p>
            <a:endParaRPr sz="1800" b="0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No se incluye en diapositivas, repositorios o archivos compartidos.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4797FF1-C39B-4E2A-986A-EEE87274452A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4D53281D-6393-483D-81AE-D3B217322CFA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11049000" cy="0"/>
          </a:xfrm>
          <a:prstGeom prst="line">
            <a:avLst/>
          </a:prstGeom>
          <a:noFill/>
          <a:ln w="19050">
            <a:solidFill>
              <a:srgbClr val="B4945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B5C58B37-EEB3-4AF6-96CA-DF1A13D95FE6}"/>
              </a:ext>
            </a:extLst>
          </p:cNvPr>
          <p:cNvSpPr>
            <a:spLocks noGrp="1"/>
          </p:cNvSpPr>
          <p:nvPr/>
        </p:nvSpPr>
        <p:spPr>
          <a:xfrm>
            <a:off x="571500" y="6219825"/>
            <a:ext cx="11049000" cy="0"/>
          </a:xfrm>
          <a:prstGeom prst="line">
            <a:avLst/>
          </a:prstGeom>
          <a:noFill/>
          <a:ln w="19050">
            <a:solidFill>
              <a:srgbClr val="DDE2E4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D5C960D6-E2BC-49EE-A975-7DA2A8BC9859}"/>
              </a:ext>
            </a:extLst>
          </p:cNvPr>
          <p:cNvSpPr>
            <a:spLocks noGrp="1"/>
          </p:cNvSpPr>
          <p:nvPr/>
        </p:nvSpPr>
        <p:spPr>
          <a:xfrm>
            <a:off x="8010525" y="1924050"/>
            <a:ext cx="0" cy="3619500"/>
          </a:xfrm>
          <a:prstGeom prst="line">
            <a:avLst/>
          </a:prstGeom>
          <a:noFill/>
          <a:ln w="19050">
            <a:solidFill>
              <a:srgbClr val="D4C39D"/>
            </a:solidFill>
          </a:ln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974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7D89C20B-F48C-46C3-B8C1-AA06F26F8211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10953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APIs para preguntas de nanociencias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C607A36-CC7F-44D4-A4F3-28E7C576C09C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7124700" cy="3971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175" b="0">
                <a:solidFill>
                  <a:srgbClr val="E7EEF2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DBC48B"/>
                </a:solidFill>
                <a:latin typeface="DejaVu Sans"/>
                <a:ea typeface="DejaVu Sans"/>
                <a:cs typeface="DejaVu Sans"/>
              </a:rPr>
              <a:t>PubChem</a:t>
            </a:r>
          </a:p>
          <a:p>
            <a:pPr>
              <a:buNone/>
              <a:defRPr sz="2175" b="0">
                <a:solidFill>
                  <a:srgbClr val="E7EEF2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7EEF2"/>
                </a:solidFill>
                <a:latin typeface="DejaVu Sans"/>
                <a:ea typeface="DejaVu Sans"/>
                <a:cs typeface="DejaVu Sans"/>
              </a:rPr>
              <a:t>Propiedades de moléculas, ligandos y precursores.</a:t>
            </a:r>
          </a:p>
          <a:p>
            <a:endParaRPr sz="2175" b="0">
              <a:solidFill>
                <a:srgbClr val="E7EEF2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2175" b="0">
                <a:solidFill>
                  <a:srgbClr val="E7EEF2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DBC48B"/>
                </a:solidFill>
                <a:latin typeface="DejaVu Sans"/>
                <a:ea typeface="DejaVu Sans"/>
                <a:cs typeface="DejaVu Sans"/>
              </a:rPr>
              <a:t>Materials Project</a:t>
            </a:r>
          </a:p>
          <a:p>
            <a:pPr>
              <a:buNone/>
              <a:defRPr sz="2175" b="0">
                <a:solidFill>
                  <a:srgbClr val="E7EEF2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7EEF2"/>
                </a:solidFill>
                <a:latin typeface="DejaVu Sans"/>
                <a:ea typeface="DejaVu Sans"/>
                <a:cs typeface="DejaVu Sans"/>
              </a:rPr>
              <a:t>Estructuras cristalinas y propiedades calculadas.</a:t>
            </a:r>
          </a:p>
          <a:p>
            <a:endParaRPr sz="2175" b="0">
              <a:solidFill>
                <a:srgbClr val="E7EEF2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2175" b="0">
                <a:solidFill>
                  <a:srgbClr val="E7EEF2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7EEF2"/>
                </a:solidFill>
                <a:latin typeface="DejaVu Sans"/>
                <a:ea typeface="DejaVu Sans"/>
                <a:cs typeface="DejaVu Sans"/>
              </a:rPr>
              <a:t>La fuente se elige según la pregunta científica.</a:t>
            </a:r>
          </a:p>
          <a:p>
            <a:pPr>
              <a:buNone/>
              <a:defRPr sz="2175" b="0">
                <a:solidFill>
                  <a:srgbClr val="E7EEF2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7EEF2"/>
                </a:solidFill>
                <a:latin typeface="DejaVu Sans"/>
                <a:ea typeface="DejaVu Sans"/>
                <a:cs typeface="DejaVu Sans"/>
              </a:rPr>
              <a:t>Cada servicio tiene su propio esquema y acceso.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66CDB77-5551-46FB-B7F0-E1DE6D145B66}"/>
              </a:ext>
            </a:extLst>
          </p:cNvPr>
          <p:cNvSpPr>
            <a:spLocks noGrp="1"/>
          </p:cNvSpPr>
          <p:nvPr/>
        </p:nvSpPr>
        <p:spPr>
          <a:xfrm>
            <a:off x="8286750" y="1971675"/>
            <a:ext cx="3238500" cy="400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0">
                <a:solidFill>
                  <a:srgbClr val="CDD6D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CDD6DF"/>
                </a:solidFill>
                <a:latin typeface="DejaVu Sans"/>
                <a:ea typeface="DejaVu Sans"/>
                <a:cs typeface="DejaVu Sans"/>
              </a:rPr>
              <a:t>Una distinción esencial</a:t>
            </a:r>
          </a:p>
          <a:p>
            <a:endParaRPr sz="1800" b="0">
              <a:solidFill>
                <a:srgbClr val="CDD6DF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CDD6D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CDD6DF"/>
                </a:solidFill>
                <a:latin typeface="DejaVu Sans"/>
                <a:ea typeface="DejaVu Sans"/>
                <a:cs typeface="DejaVu Sans"/>
              </a:rPr>
              <a:t>La fórmula de una molécula no describe el tamaño o la morfología de una nanopartícula.</a:t>
            </a:r>
          </a:p>
          <a:p>
            <a:endParaRPr sz="1800" b="0">
              <a:solidFill>
                <a:srgbClr val="CDD6DF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CDD6D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CDD6DF"/>
                </a:solidFill>
                <a:latin typeface="DejaVu Sans"/>
                <a:ea typeface="DejaVu Sans"/>
                <a:cs typeface="DejaVu Sans"/>
              </a:rPr>
              <a:t>Un cristal ideal no representa todos los efectos a escala nano.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11A07D6-A14D-4B31-8567-AB7910BCA7F8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275" b="0">
                <a:solidFill>
                  <a:srgbClr val="CCD7D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CCD7DF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48BC7B35-3F92-4CDF-80C3-134AC428DF72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11049000" cy="0"/>
          </a:xfrm>
          <a:prstGeom prst="line">
            <a:avLst/>
          </a:prstGeom>
          <a:noFill/>
          <a:ln w="19050">
            <a:solidFill>
              <a:srgbClr val="B4945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714FB195-ECC5-4412-ACF9-D6559E2913D3}"/>
              </a:ext>
            </a:extLst>
          </p:cNvPr>
          <p:cNvSpPr>
            <a:spLocks noGrp="1"/>
          </p:cNvSpPr>
          <p:nvPr/>
        </p:nvSpPr>
        <p:spPr>
          <a:xfrm>
            <a:off x="571500" y="6219825"/>
            <a:ext cx="11049000" cy="0"/>
          </a:xfrm>
          <a:prstGeom prst="line">
            <a:avLst/>
          </a:prstGeom>
          <a:noFill/>
          <a:ln w="19050">
            <a:solidFill>
              <a:srgbClr val="DDE2E4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4E2AB88A-D45B-4C59-B828-317F1B9D7589}"/>
              </a:ext>
            </a:extLst>
          </p:cNvPr>
          <p:cNvSpPr>
            <a:spLocks noGrp="1"/>
          </p:cNvSpPr>
          <p:nvPr/>
        </p:nvSpPr>
        <p:spPr>
          <a:xfrm>
            <a:off x="8010525" y="1924050"/>
            <a:ext cx="0" cy="3619500"/>
          </a:xfrm>
          <a:prstGeom prst="line">
            <a:avLst/>
          </a:prstGeom>
          <a:noFill/>
          <a:ln w="19050">
            <a:solidFill>
              <a:srgbClr val="D4C39D"/>
            </a:solidFill>
          </a:ln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89249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ADD3F421-1AEC-4F75-9BDA-B0018B8ABEAF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109537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rPr>
              <a:t>Actividad guiada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F67365F-DCEF-406B-B0AB-B3E9592C66E1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714375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175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¿Qué fórmula y peso molecular tienen</a:t>
            </a:r>
          </a:p>
          <a:p>
            <a:pPr>
              <a:buNone/>
              <a:defRPr sz="2175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el ácido cítrico, el etilenglicol y el ácido oleico?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9422F6C-EA03-4923-AD42-C7E59B31FBA7}"/>
              </a:ext>
            </a:extLst>
          </p:cNvPr>
          <p:cNvSpPr>
            <a:spLocks noGrp="1"/>
          </p:cNvSpPr>
          <p:nvPr/>
        </p:nvSpPr>
        <p:spPr>
          <a:xfrm>
            <a:off x="8324850" y="2000250"/>
            <a:ext cx="3200400" cy="3857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Entrega</a:t>
            </a:r>
          </a:p>
          <a:p>
            <a:endParaRPr sz="1800" b="0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Código o cuaderno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CSV de resultados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Fuente y fecha de consulta</a:t>
            </a:r>
          </a:p>
          <a:p>
            <a:endParaRPr sz="1800" b="0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Pregunta final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¿Qué propiedad de la nanopartícula sigue faltando?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18D86FB-D357-4E1A-98A1-806CBCD51CB7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927FA2CE-A087-4AFE-BE47-B4EC283987D2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11049000" cy="0"/>
          </a:xfrm>
          <a:prstGeom prst="line">
            <a:avLst/>
          </a:prstGeom>
          <a:noFill/>
          <a:ln w="19050">
            <a:solidFill>
              <a:srgbClr val="B4945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654AC350-AF89-46C0-8028-2447DDAE6091}"/>
              </a:ext>
            </a:extLst>
          </p:cNvPr>
          <p:cNvSpPr>
            <a:spLocks noGrp="1"/>
          </p:cNvSpPr>
          <p:nvPr/>
        </p:nvSpPr>
        <p:spPr>
          <a:xfrm>
            <a:off x="571500" y="6219825"/>
            <a:ext cx="11049000" cy="0"/>
          </a:xfrm>
          <a:prstGeom prst="line">
            <a:avLst/>
          </a:prstGeom>
          <a:noFill/>
          <a:ln w="19050">
            <a:solidFill>
              <a:srgbClr val="DDE2E4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1F2522AB-0FC2-42F8-AFD8-CA55557CFC9A}"/>
              </a:ext>
            </a:extLst>
          </p:cNvPr>
          <p:cNvSpPr>
            <a:spLocks noGrp="1"/>
          </p:cNvSpPr>
          <p:nvPr/>
        </p:nvSpPr>
        <p:spPr>
          <a:xfrm>
            <a:off x="8010525" y="1924050"/>
            <a:ext cx="0" cy="3619500"/>
          </a:xfrm>
          <a:prstGeom prst="line">
            <a:avLst/>
          </a:prstGeom>
          <a:noFill/>
          <a:ln w="19050">
            <a:solidFill>
              <a:srgbClr val="D4C39D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BF3AFF8-EE85-47DA-A470-D0646F0CDD6D}"/>
              </a:ext>
            </a:extLst>
          </p:cNvPr>
          <p:cNvSpPr>
            <a:spLocks noGrp="1"/>
          </p:cNvSpPr>
          <p:nvPr/>
        </p:nvSpPr>
        <p:spPr>
          <a:xfrm>
            <a:off x="571500" y="3228975"/>
            <a:ext cx="5905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B4945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B49450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CFABD13-969F-4E74-A469-6103B9DD1B08}"/>
              </a:ext>
            </a:extLst>
          </p:cNvPr>
          <p:cNvSpPr>
            <a:spLocks noGrp="1"/>
          </p:cNvSpPr>
          <p:nvPr/>
        </p:nvSpPr>
        <p:spPr>
          <a:xfrm>
            <a:off x="1438275" y="3238500"/>
            <a:ext cx="62388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Verificar los identificadores CID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33A18C3-5B89-43EC-AC6A-0EB9660634BA}"/>
              </a:ext>
            </a:extLst>
          </p:cNvPr>
          <p:cNvSpPr>
            <a:spLocks noGrp="1"/>
          </p:cNvSpPr>
          <p:nvPr/>
        </p:nvSpPr>
        <p:spPr>
          <a:xfrm>
            <a:off x="571500" y="3810000"/>
            <a:ext cx="5905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B4945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B4945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B3AE3D1-EC7C-4BB1-9F88-47E762BB8BA4}"/>
              </a:ext>
            </a:extLst>
          </p:cNvPr>
          <p:cNvSpPr>
            <a:spLocks noGrp="1"/>
          </p:cNvSpPr>
          <p:nvPr/>
        </p:nvSpPr>
        <p:spPr>
          <a:xfrm>
            <a:off x="1438275" y="3819525"/>
            <a:ext cx="62388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Consultar las propiedades con GET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C288C48-5C88-492D-950C-C7CE61D0AB79}"/>
              </a:ext>
            </a:extLst>
          </p:cNvPr>
          <p:cNvSpPr>
            <a:spLocks noGrp="1"/>
          </p:cNvSpPr>
          <p:nvPr/>
        </p:nvSpPr>
        <p:spPr>
          <a:xfrm>
            <a:off x="571500" y="4391025"/>
            <a:ext cx="5905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B4945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B4945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6522A79-EF9E-479F-B86A-B9A28685ED31}"/>
              </a:ext>
            </a:extLst>
          </p:cNvPr>
          <p:cNvSpPr>
            <a:spLocks noGrp="1"/>
          </p:cNvSpPr>
          <p:nvPr/>
        </p:nvSpPr>
        <p:spPr>
          <a:xfrm>
            <a:off x="1438275" y="4400550"/>
            <a:ext cx="62388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Crear la tabla y convertir el peso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6781898-E27E-4592-A757-6F3EA2DA82B9}"/>
              </a:ext>
            </a:extLst>
          </p:cNvPr>
          <p:cNvSpPr>
            <a:spLocks noGrp="1"/>
          </p:cNvSpPr>
          <p:nvPr/>
        </p:nvSpPr>
        <p:spPr>
          <a:xfrm>
            <a:off x="571500" y="4972050"/>
            <a:ext cx="5905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1">
                <a:solidFill>
                  <a:srgbClr val="B4945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B4945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2DA153C-6DD9-4B4A-8E07-65BBBE31E878}"/>
              </a:ext>
            </a:extLst>
          </p:cNvPr>
          <p:cNvSpPr>
            <a:spLocks noGrp="1"/>
          </p:cNvSpPr>
          <p:nvPr/>
        </p:nvSpPr>
        <p:spPr>
          <a:xfrm>
            <a:off x="1438275" y="4981575"/>
            <a:ext cx="623887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Guardar el CSV e interpretar sus filas</a:t>
            </a:r>
          </a:p>
        </p:txBody>
      </p:sp>
    </p:spTree>
    <p:extLst>
      <p:ext uri="{BB962C8B-B14F-4D97-AF65-F5344CB8AC3E}">
        <p14:creationId xmlns:p14="http://schemas.microsoft.com/office/powerpoint/2010/main" val="2101942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890E53AE-FA75-4CCB-9966-99B6C6979D87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109537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rPr>
              <a:t>Datos reproducibles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58D7634-01D2-49A6-8ED5-C759F83EC5E4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7124700" cy="3905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Una consulta útil deja un registro de:</a:t>
            </a:r>
          </a:p>
          <a:p>
            <a:endParaRPr sz="2100" b="0">
              <a:solidFill>
                <a:srgbClr val="17334A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La URL y los identificadores consultados.</a:t>
            </a: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La fecha de descarga y la fuente.</a:t>
            </a: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Los campos y sus unidades.</a:t>
            </a: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La respuesta original y la tabla procesada.</a:t>
            </a: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Los cambios realizados y los datos faltantes.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ECD5B40-5E67-4F55-8ED6-797931ACDFCB}"/>
              </a:ext>
            </a:extLst>
          </p:cNvPr>
          <p:cNvSpPr>
            <a:spLocks noGrp="1"/>
          </p:cNvSpPr>
          <p:nvPr/>
        </p:nvSpPr>
        <p:spPr>
          <a:xfrm>
            <a:off x="8286750" y="1971675"/>
            <a:ext cx="3238500" cy="3905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Antes del análisis</a:t>
            </a:r>
          </a:p>
          <a:p>
            <a:endParaRPr sz="1800" b="1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¿Es el compuesto correcto?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¿Hay valores ausentes?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¿Son datos medidos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o calculados?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¿La comparación tiene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sentido físico?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3292B11-7A6B-4778-B802-D2A6C0CD8B57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958F8C55-C2DC-4FC1-A504-0211D1CEB339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11049000" cy="0"/>
          </a:xfrm>
          <a:prstGeom prst="line">
            <a:avLst/>
          </a:prstGeom>
          <a:noFill/>
          <a:ln w="19050">
            <a:solidFill>
              <a:srgbClr val="B4945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5DC47244-9C4C-409D-9E9A-996EE67FD757}"/>
              </a:ext>
            </a:extLst>
          </p:cNvPr>
          <p:cNvSpPr>
            <a:spLocks noGrp="1"/>
          </p:cNvSpPr>
          <p:nvPr/>
        </p:nvSpPr>
        <p:spPr>
          <a:xfrm>
            <a:off x="571500" y="6219825"/>
            <a:ext cx="11049000" cy="0"/>
          </a:xfrm>
          <a:prstGeom prst="line">
            <a:avLst/>
          </a:prstGeom>
          <a:noFill/>
          <a:ln w="19050">
            <a:solidFill>
              <a:srgbClr val="DDE2E4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AC6F7524-7279-437E-8E20-AC18D138CEBC}"/>
              </a:ext>
            </a:extLst>
          </p:cNvPr>
          <p:cNvSpPr>
            <a:spLocks noGrp="1"/>
          </p:cNvSpPr>
          <p:nvPr/>
        </p:nvSpPr>
        <p:spPr>
          <a:xfrm>
            <a:off x="8010525" y="1924050"/>
            <a:ext cx="0" cy="3619500"/>
          </a:xfrm>
          <a:prstGeom prst="line">
            <a:avLst/>
          </a:prstGeom>
          <a:noFill/>
          <a:ln w="19050">
            <a:solidFill>
              <a:srgbClr val="D4C39D"/>
            </a:solidFill>
          </a:ln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049425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7E225ED1-1AC0-46D8-BEF0-C74BA4A64FC2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109537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rPr>
              <a:t>Comprobación de comprensión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7EBD9DC-7A06-470E-A181-FBD56440A61D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7124700" cy="3905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¿Quién es el cliente cuando usamos Python?</a:t>
            </a:r>
          </a:p>
          <a:p>
            <a:endParaRPr sz="2100" b="0">
              <a:solidFill>
                <a:srgbClr val="17334A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¿Qué diferencia hay entre GET y JSON?</a:t>
            </a:r>
          </a:p>
          <a:p>
            <a:endParaRPr sz="2100" b="0">
              <a:solidFill>
                <a:srgbClr val="17334A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¿Por qué revisamos el estado antes de leer los datos?</a:t>
            </a:r>
          </a:p>
          <a:p>
            <a:endParaRPr sz="2100" b="0">
              <a:solidFill>
                <a:srgbClr val="17334A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¿Qué hace [0] al acceder a una lista?</a:t>
            </a:r>
          </a:p>
          <a:p>
            <a:endParaRPr sz="2100" b="0">
              <a:solidFill>
                <a:srgbClr val="17334A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¿Basta conocer la fórmula para caracterizar</a:t>
            </a:r>
          </a:p>
          <a:p>
            <a:pPr>
              <a:buNone/>
              <a:def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una nanopartícula?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308B39E-BB0B-49CD-A79D-B3C57C00ADB1}"/>
              </a:ext>
            </a:extLst>
          </p:cNvPr>
          <p:cNvSpPr>
            <a:spLocks noGrp="1"/>
          </p:cNvSpPr>
          <p:nvPr/>
        </p:nvSpPr>
        <p:spPr>
          <a:xfrm>
            <a:off x="8286750" y="1971675"/>
            <a:ext cx="3238500" cy="3905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Respuestas esperadas</a:t>
            </a:r>
          </a:p>
          <a:p>
            <a:endParaRPr sz="1800" b="1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Python es el cliente.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GET es un método.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JSON es un formato.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[0] selecciona el primer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elemento de una lista.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87542E8-4806-4D4B-BC5F-ABC0F783C568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77D41AFA-991F-47E6-AE40-4D584976123D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11049000" cy="0"/>
          </a:xfrm>
          <a:prstGeom prst="line">
            <a:avLst/>
          </a:prstGeom>
          <a:noFill/>
          <a:ln w="19050">
            <a:solidFill>
              <a:srgbClr val="B4945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8B96C418-7A9F-441E-B4B1-C0CE223F8B4B}"/>
              </a:ext>
            </a:extLst>
          </p:cNvPr>
          <p:cNvSpPr>
            <a:spLocks noGrp="1"/>
          </p:cNvSpPr>
          <p:nvPr/>
        </p:nvSpPr>
        <p:spPr>
          <a:xfrm>
            <a:off x="571500" y="6219825"/>
            <a:ext cx="11049000" cy="0"/>
          </a:xfrm>
          <a:prstGeom prst="line">
            <a:avLst/>
          </a:prstGeom>
          <a:noFill/>
          <a:ln w="19050">
            <a:solidFill>
              <a:srgbClr val="DDE2E4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35284452-BCE8-4146-AB6F-832587F73381}"/>
              </a:ext>
            </a:extLst>
          </p:cNvPr>
          <p:cNvSpPr>
            <a:spLocks noGrp="1"/>
          </p:cNvSpPr>
          <p:nvPr/>
        </p:nvSpPr>
        <p:spPr>
          <a:xfrm>
            <a:off x="8010525" y="1924050"/>
            <a:ext cx="0" cy="3619500"/>
          </a:xfrm>
          <a:prstGeom prst="line">
            <a:avLst/>
          </a:prstGeom>
          <a:noFill/>
          <a:ln w="19050">
            <a:solidFill>
              <a:srgbClr val="D4C39D"/>
            </a:solidFill>
          </a:ln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22348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B8BA9E5B-A80E-4007-9F87-0E5B572B28E1}"/>
              </a:ext>
            </a:extLst>
          </p:cNvPr>
          <p:cNvSpPr>
            <a:spLocks noGrp="1"/>
          </p:cNvSpPr>
          <p:nvPr/>
        </p:nvSpPr>
        <p:spPr>
          <a:xfrm>
            <a:off x="571500" y="571500"/>
            <a:ext cx="109537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09233D"/>
                </a:solidFill>
                <a:latin typeface="DejaVu Sans"/>
                <a:ea typeface="DejaVu Sans"/>
                <a:cs typeface="DejaVu Sans"/>
              </a:rPr>
              <a:t>Documentación para continuar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05E7039-458B-456F-8FE7-B39518AF00BB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7143750" cy="3914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175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B49450"/>
                </a:solidFill>
                <a:latin typeface="DejaVu Sans"/>
                <a:ea typeface="DejaVu Sans"/>
                <a:cs typeface="DejaVu Sans"/>
                <a:hlinkClick r:id="rId3"/>
              </a:rPr>
              <a:t>PubChem: PUG REST y tutorial</a:t>
            </a:r>
          </a:p>
          <a:p>
            <a:pPr>
              <a:buNone/>
              <a:defRPr sz="2175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Documentación de la API científica</a:t>
            </a:r>
          </a:p>
          <a:p>
            <a:endParaRPr sz="2175" b="0">
              <a:solidFill>
                <a:srgbClr val="17334A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2175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B49450"/>
                </a:solidFill>
                <a:latin typeface="DejaVu Sans"/>
                <a:ea typeface="DejaVu Sans"/>
                <a:cs typeface="DejaVu Sans"/>
                <a:hlinkClick r:id="rId4"/>
              </a:rPr>
              <a:t>Requests: guía de uso</a:t>
            </a:r>
          </a:p>
          <a:p>
            <a:pPr>
              <a:buNone/>
              <a:defRPr sz="2175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Peticiones, respuestas y manejo de errores</a:t>
            </a:r>
          </a:p>
          <a:p>
            <a:endParaRPr sz="2175" b="0">
              <a:solidFill>
                <a:srgbClr val="17334A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2175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B49450"/>
                </a:solidFill>
                <a:latin typeface="DejaVu Sans"/>
                <a:ea typeface="DejaVu Sans"/>
                <a:cs typeface="DejaVu Sans"/>
                <a:hlinkClick r:id="rId5"/>
              </a:rPr>
              <a:t>Materials Project: inicio con la API</a:t>
            </a:r>
          </a:p>
          <a:p>
            <a:pPr>
              <a:buNone/>
              <a:defRPr sz="2175" b="0">
                <a:solidFill>
                  <a:srgbClr val="17334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7334A"/>
                </a:solidFill>
                <a:latin typeface="DejaVu Sans"/>
                <a:ea typeface="DejaVu Sans"/>
                <a:cs typeface="DejaVu Sans"/>
              </a:rPr>
              <a:t>Acceso a datos de materiales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C6B803A-B334-4CE7-8C50-A4AE9B500127}"/>
              </a:ext>
            </a:extLst>
          </p:cNvPr>
          <p:cNvSpPr>
            <a:spLocks noGrp="1"/>
          </p:cNvSpPr>
          <p:nvPr/>
        </p:nvSpPr>
        <p:spPr>
          <a:xfrm>
            <a:off x="8286750" y="1971675"/>
            <a:ext cx="3238500" cy="3905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Para cada nueva API</a:t>
            </a:r>
          </a:p>
          <a:p>
            <a:endParaRPr sz="1800" b="1">
              <a:solidFill>
                <a:srgbClr val="5A6B78"/>
              </a:solidFill>
              <a:latin typeface="DejaVu Sans"/>
              <a:ea typeface="DejaVu Sans"/>
              <a:cs typeface="DejaVu Sans"/>
            </a:endParaRP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Ejemplo oficial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Método y URL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Formato de respuesta</a:t>
            </a:r>
          </a:p>
          <a:p>
            <a:pPr>
              <a:buNone/>
              <a:def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Acceso y límites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B14AFB6-4539-4BFA-841B-81664BA4ECB0}"/>
              </a:ext>
            </a:extLst>
          </p:cNvPr>
          <p:cNvSpPr>
            <a:spLocks noGrp="1"/>
          </p:cNvSpPr>
          <p:nvPr/>
        </p:nvSpPr>
        <p:spPr>
          <a:xfrm>
            <a:off x="11001375" y="6381750"/>
            <a:ext cx="61912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6" name="Conector recto 5">
            <a:extLst>
              <a:ext uri="{FF2B5EF4-FFF2-40B4-BE49-F238E27FC236}">
                <a16:creationId xmlns:a16="http://schemas.microsoft.com/office/drawing/2014/main" id="{C289E8F3-A705-43D6-9E47-82117DF31253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11049000" cy="0"/>
          </a:xfrm>
          <a:prstGeom prst="line">
            <a:avLst/>
          </a:prstGeom>
          <a:noFill/>
          <a:ln w="19050">
            <a:solidFill>
              <a:srgbClr val="B49450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7" name="Conector recto 6">
            <a:extLst>
              <a:ext uri="{FF2B5EF4-FFF2-40B4-BE49-F238E27FC236}">
                <a16:creationId xmlns:a16="http://schemas.microsoft.com/office/drawing/2014/main" id="{46256373-E374-4DEC-BB59-7A04CEA3BFFF}"/>
              </a:ext>
            </a:extLst>
          </p:cNvPr>
          <p:cNvSpPr>
            <a:spLocks noGrp="1"/>
          </p:cNvSpPr>
          <p:nvPr/>
        </p:nvSpPr>
        <p:spPr>
          <a:xfrm>
            <a:off x="571500" y="6219825"/>
            <a:ext cx="11049000" cy="0"/>
          </a:xfrm>
          <a:prstGeom prst="line">
            <a:avLst/>
          </a:prstGeom>
          <a:noFill/>
          <a:ln w="19050">
            <a:solidFill>
              <a:srgbClr val="DDE2E4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336C992F-DF8E-4019-9B24-190900D3C949}"/>
              </a:ext>
            </a:extLst>
          </p:cNvPr>
          <p:cNvSpPr>
            <a:spLocks noGrp="1"/>
          </p:cNvSpPr>
          <p:nvPr/>
        </p:nvSpPr>
        <p:spPr>
          <a:xfrm>
            <a:off x="8010525" y="1924050"/>
            <a:ext cx="0" cy="3619500"/>
          </a:xfrm>
          <a:prstGeom prst="line">
            <a:avLst/>
          </a:prstGeom>
          <a:noFill/>
          <a:ln w="19050">
            <a:solidFill>
              <a:srgbClr val="D4C39D"/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E98884D-596D-44E0-8FD8-BA3CECF35AEB}"/>
              </a:ext>
            </a:extLst>
          </p:cNvPr>
          <p:cNvSpPr>
            <a:spLocks noGrp="1"/>
          </p:cNvSpPr>
          <p:nvPr/>
        </p:nvSpPr>
        <p:spPr>
          <a:xfrm>
            <a:off x="571500" y="5657850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350" b="0">
                <a:solidFill>
                  <a:srgbClr val="5A6B78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A6B78"/>
                </a:solidFill>
                <a:latin typeface="DejaVu Sans"/>
                <a:ea typeface="DejaVu Sans"/>
                <a:cs typeface="DejaVu Sans"/>
              </a:rPr>
              <a:t>Los títulos contienen enlaces a la documentación oficial.</a:t>
            </a:r>
          </a:p>
        </p:txBody>
      </p:sp>
    </p:spTree>
    <p:extLst>
      <p:ext uri="{BB962C8B-B14F-4D97-AF65-F5344CB8AC3E}">
        <p14:creationId xmlns:p14="http://schemas.microsoft.com/office/powerpoint/2010/main" val="193427381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2351</Words>
  <Application>Microsoft Office PowerPoint</Application>
  <DocSecurity>0</DocSecurity>
  <PresentationFormat>Panorámica</PresentationFormat>
  <Paragraphs>410</Paragraphs>
  <Slides>25</Slides>
  <Notes>25</Notes>
  <HiddenSlides>1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Aptos</vt:lpstr>
      <vt:lpstr>DejaVu Sans</vt:lpstr>
      <vt:lpstr>DejaVu Sans Mono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Luis Antonio García González</cp:lastModifiedBy>
  <cp:revision>1</cp:revision>
  <dcterms:created xsi:type="dcterms:W3CDTF">2026-09-30T15:46:35Z</dcterms:created>
  <dcterms:modified xsi:type="dcterms:W3CDTF">2026-09-30T18:19:36Z</dcterms:modified>
</cp:coreProperties>
</file>